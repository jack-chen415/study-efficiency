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9144000" cy="5143500"/>
  <p:notesSz cx="5143500" cy="9144000"/>
  <p:custDataLst>
    <p:tags r:id="rId1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10.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2.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2743200" cy="5143500"/>
          </a:xfrm>
          <a:prstGeom prst="rect">
            <a:avLst/>
          </a:prstGeom>
          <a:solidFill>
            <a:srgbClr val="122A36"/>
          </a:solidFill>
          <a:ln w="6350">
            <a:solidFill>
              <a:srgbClr val="122A36"/>
            </a:solidFill>
            <a:prstDash val="solid"/>
          </a:ln>
        </p:spPr>
      </p:sp>
      <p:sp>
        <p:nvSpPr>
          <p:cNvPr id="3" name="Shape 1"/>
          <p:cNvSpPr/>
          <p:nvPr/>
        </p:nvSpPr>
        <p:spPr>
          <a:xfrm>
            <a:off x="0" y="4526280"/>
            <a:ext cx="9144000" cy="617220"/>
          </a:xfrm>
          <a:prstGeom prst="rect">
            <a:avLst/>
          </a:prstGeom>
          <a:solidFill>
            <a:srgbClr val="E8F6F1"/>
          </a:solidFill>
          <a:ln w="6350">
            <a:solidFill>
              <a:srgbClr val="E8F6F1"/>
            </a:solidFill>
            <a:prstDash val="solid"/>
          </a:ln>
        </p:spPr>
      </p:sp>
      <p:sp>
        <p:nvSpPr>
          <p:cNvPr id="4" name="Shape 2"/>
          <p:cNvSpPr/>
          <p:nvPr/>
        </p:nvSpPr>
        <p:spPr>
          <a:xfrm>
            <a:off x="411480" y="475488"/>
            <a:ext cx="1417320" cy="310896"/>
          </a:xfrm>
          <a:prstGeom prst="roundRect">
            <a:avLst>
              <a:gd name="adj" fmla="val 47059"/>
            </a:avLst>
          </a:prstGeom>
          <a:solidFill>
            <a:srgbClr val="2A9D8F"/>
          </a:solidFill>
          <a:ln w="10160">
            <a:solidFill>
              <a:srgbClr val="2A9D8F"/>
            </a:solidFill>
            <a:prstDash val="solid"/>
          </a:ln>
        </p:spPr>
      </p:sp>
      <p:sp>
        <p:nvSpPr>
          <p:cNvPr id="5" name="Text 3"/>
          <p:cNvSpPr/>
          <p:nvPr/>
        </p:nvSpPr>
        <p:spPr>
          <a:xfrm>
            <a:off x="411480" y="525780"/>
            <a:ext cx="1417320" cy="256032"/>
          </a:xfrm>
          <a:prstGeom prst="rect">
            <a:avLst/>
          </a:prstGeom>
          <a:noFill/>
        </p:spPr>
        <p:txBody>
          <a:bodyPr wrap="square" lIns="0" tIns="0" rIns="0" bIns="0" rtlCol="0" anchor="t">
            <a:normAutofit/>
          </a:bodyPr>
          <a:lstStyle/>
          <a:p>
            <a:pPr marL="0" indent="0" algn="ctr">
              <a:buNone/>
            </a:pPr>
            <a:r>
              <a:rPr lang="en-US" sz="9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Python 期末课程设计</a:t>
            </a:r>
            <a:endParaRPr lang="en-US" sz="900" dirty="0"/>
          </a:p>
        </p:txBody>
      </p:sp>
      <p:sp>
        <p:nvSpPr>
          <p:cNvPr id="6" name="Text 4"/>
          <p:cNvSpPr/>
          <p:nvPr/>
        </p:nvSpPr>
        <p:spPr>
          <a:xfrm>
            <a:off x="384048" y="1115568"/>
            <a:ext cx="1965960" cy="1143000"/>
          </a:xfrm>
          <a:prstGeom prst="rect">
            <a:avLst/>
          </a:prstGeom>
          <a:noFill/>
        </p:spPr>
        <p:txBody>
          <a:bodyPr wrap="square" lIns="254" tIns="254" rIns="254" bIns="254" rtlCol="0" anchor="t">
            <a:normAutofit/>
          </a:bodyPr>
          <a:lstStyle/>
          <a:p>
            <a:pPr marL="0" indent="0" algn="l">
              <a:buNone/>
            </a:pPr>
            <a:r>
              <a:rPr lang="en-US" sz="31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学习效率</a:t>
            </a:r>
            <a:endParaRPr lang="en-US" sz="3100" dirty="0"/>
          </a:p>
          <a:p>
            <a:pPr marL="0" indent="0" algn="l">
              <a:buNone/>
            </a:pPr>
            <a:r>
              <a:rPr lang="en-US" sz="31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预测系统</a:t>
            </a:r>
            <a:endParaRPr lang="en-US" sz="3100" dirty="0"/>
          </a:p>
        </p:txBody>
      </p:sp>
      <p:sp>
        <p:nvSpPr>
          <p:cNvPr id="7" name="Text 5"/>
          <p:cNvSpPr/>
          <p:nvPr/>
        </p:nvSpPr>
        <p:spPr>
          <a:xfrm>
            <a:off x="411480" y="2980944"/>
            <a:ext cx="1975104" cy="566928"/>
          </a:xfrm>
          <a:prstGeom prst="rect">
            <a:avLst/>
          </a:prstGeom>
          <a:noFill/>
        </p:spPr>
        <p:txBody>
          <a:bodyPr wrap="square" lIns="508" tIns="508" rIns="508" bIns="508" rtlCol="0" anchor="t">
            <a:normAutofit/>
          </a:bodyPr>
          <a:lstStyle/>
          <a:p>
            <a:pPr marL="0" indent="0" algn="l">
              <a:buNone/>
            </a:pPr>
            <a:r>
              <a:rPr lang="en-US" sz="1200" b="1" dirty="0">
                <a:solidFill>
                  <a:srgbClr val="E9C46A"/>
                </a:solidFill>
                <a:latin typeface="微软雅黑" panose="020B0503020204020204" pitchFamily="34" charset="-122"/>
                <a:ea typeface="微软雅黑" panose="020B0503020204020204" pitchFamily="34" charset="-122"/>
                <a:cs typeface="微软雅黑" panose="020B0503020204020204" pitchFamily="34" charset="-120"/>
              </a:rPr>
              <a:t>手机轻量感知 + 自报告数据 + 随机森林三分类</a:t>
            </a:r>
            <a:endParaRPr lang="en-US" sz="1200" dirty="0"/>
          </a:p>
        </p:txBody>
      </p:sp>
      <p:sp>
        <p:nvSpPr>
          <p:cNvPr id="8" name="Text 6"/>
          <p:cNvSpPr/>
          <p:nvPr/>
        </p:nvSpPr>
        <p:spPr>
          <a:xfrm>
            <a:off x="3127248" y="676656"/>
            <a:ext cx="4572000" cy="1143000"/>
          </a:xfrm>
          <a:prstGeom prst="rect">
            <a:avLst/>
          </a:prstGeom>
          <a:noFill/>
        </p:spPr>
        <p:txBody>
          <a:bodyPr wrap="square" lIns="508" tIns="508" rIns="508" bIns="508" rtlCol="0" anchor="t">
            <a:normAutofit/>
          </a:bodyPr>
          <a:lstStyle/>
          <a:p>
            <a:pPr marL="0" indent="0" algn="l">
              <a:buNone/>
            </a:pPr>
            <a:r>
              <a:rPr lang="en-US" sz="28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基于手机轻量感知与自报告数据的大学生学习效率预测系统设计与实现</a:t>
            </a:r>
            <a:endParaRPr lang="en-US" sz="2800" dirty="0"/>
          </a:p>
        </p:txBody>
      </p:sp>
      <p:sp>
        <p:nvSpPr>
          <p:cNvPr id="9" name="Text 7"/>
          <p:cNvSpPr/>
          <p:nvPr/>
        </p:nvSpPr>
        <p:spPr>
          <a:xfrm>
            <a:off x="3145536" y="1993392"/>
            <a:ext cx="4480560" cy="411480"/>
          </a:xfrm>
          <a:prstGeom prst="rect">
            <a:avLst/>
          </a:prstGeom>
          <a:noFill/>
        </p:spPr>
        <p:txBody>
          <a:bodyPr wrap="square" lIns="508" tIns="508" rIns="508" bIns="508" rtlCol="0" anchor="t">
            <a:normAutofit/>
          </a:bodyPr>
          <a:lstStyle/>
          <a:p>
            <a:pPr marL="0" indent="0" algn="l">
              <a:buNone/>
            </a:pPr>
            <a:r>
              <a:rPr lang="en-US" sz="14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课程目标是交付一个可运行、可演示、可解释的 Python 全栈课程设计系统。</a:t>
            </a:r>
            <a:endParaRPr lang="en-US" sz="1400" dirty="0"/>
          </a:p>
        </p:txBody>
      </p:sp>
      <p:sp>
        <p:nvSpPr>
          <p:cNvPr id="10" name="Shape 8"/>
          <p:cNvSpPr/>
          <p:nvPr/>
        </p:nvSpPr>
        <p:spPr>
          <a:xfrm>
            <a:off x="3145536" y="2816352"/>
            <a:ext cx="2103120" cy="914400"/>
          </a:xfrm>
          <a:prstGeom prst="roundRect">
            <a:avLst>
              <a:gd name="adj" fmla="val 10000"/>
            </a:avLst>
          </a:prstGeom>
          <a:solidFill>
            <a:srgbClr val="FFFFFF"/>
          </a:solidFill>
          <a:ln w="10160">
            <a:solidFill>
              <a:srgbClr val="D9E4EA"/>
            </a:solidFill>
            <a:prstDash val="solid"/>
          </a:ln>
        </p:spPr>
      </p:sp>
      <p:sp>
        <p:nvSpPr>
          <p:cNvPr id="11" name="Text 9"/>
          <p:cNvSpPr/>
          <p:nvPr/>
        </p:nvSpPr>
        <p:spPr>
          <a:xfrm>
            <a:off x="3364992" y="2962656"/>
            <a:ext cx="1645920" cy="228600"/>
          </a:xfrm>
          <a:prstGeom prst="rect">
            <a:avLst/>
          </a:prstGeom>
          <a:noFill/>
        </p:spPr>
        <p:txBody>
          <a:bodyPr wrap="square" lIns="508" tIns="508" rIns="508" bIns="508" rtlCol="0" anchor="t">
            <a:normAutofit/>
          </a:bodyPr>
          <a:lstStyle/>
          <a:p>
            <a:pPr marL="0" indent="0" algn="ctr">
              <a:buNone/>
            </a:pPr>
            <a:r>
              <a:rPr lang="en-US" sz="12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真实数据质检</a:t>
            </a:r>
            <a:endParaRPr lang="en-US" sz="1200" dirty="0"/>
          </a:p>
        </p:txBody>
      </p:sp>
      <p:sp>
        <p:nvSpPr>
          <p:cNvPr id="12" name="Text 10"/>
          <p:cNvSpPr/>
          <p:nvPr/>
        </p:nvSpPr>
        <p:spPr>
          <a:xfrm>
            <a:off x="3364992" y="3310128"/>
            <a:ext cx="1645920" cy="201168"/>
          </a:xfrm>
          <a:prstGeom prst="rect">
            <a:avLst/>
          </a:prstGeom>
          <a:noFill/>
        </p:spPr>
        <p:txBody>
          <a:bodyPr wrap="square" lIns="508" tIns="508" rIns="508" bIns="508" rtlCol="0" anchor="t">
            <a:normAutofit/>
          </a:bodyPr>
          <a:lstStyle/>
          <a:p>
            <a:pPr marL="0" indent="0" algn="ctr">
              <a:buNone/>
            </a:pPr>
            <a:r>
              <a:rPr lang="en-US" sz="120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completed = 17</a:t>
            </a:r>
            <a:endParaRPr lang="en-US" sz="1200" dirty="0"/>
          </a:p>
        </p:txBody>
      </p:sp>
      <p:sp>
        <p:nvSpPr>
          <p:cNvPr id="13" name="Shape 11"/>
          <p:cNvSpPr/>
          <p:nvPr/>
        </p:nvSpPr>
        <p:spPr>
          <a:xfrm>
            <a:off x="5504688" y="2816352"/>
            <a:ext cx="2103120" cy="914400"/>
          </a:xfrm>
          <a:prstGeom prst="roundRect">
            <a:avLst>
              <a:gd name="adj" fmla="val 10000"/>
            </a:avLst>
          </a:prstGeom>
          <a:solidFill>
            <a:srgbClr val="FCEDE9"/>
          </a:solidFill>
          <a:ln w="10160">
            <a:solidFill>
              <a:srgbClr val="E76F51"/>
            </a:solidFill>
            <a:prstDash val="solid"/>
          </a:ln>
        </p:spPr>
      </p:sp>
      <p:sp>
        <p:nvSpPr>
          <p:cNvPr id="14" name="Text 12"/>
          <p:cNvSpPr/>
          <p:nvPr/>
        </p:nvSpPr>
        <p:spPr>
          <a:xfrm>
            <a:off x="5705856" y="2962656"/>
            <a:ext cx="1700784" cy="228600"/>
          </a:xfrm>
          <a:prstGeom prst="rect">
            <a:avLst/>
          </a:prstGeom>
          <a:noFill/>
        </p:spPr>
        <p:txBody>
          <a:bodyPr wrap="square" lIns="508" tIns="508" rIns="508" bIns="508" rtlCol="0" anchor="t">
            <a:normAutofit/>
          </a:bodyPr>
          <a:lstStyle/>
          <a:p>
            <a:pPr marL="0" indent="0" algn="ctr">
              <a:buNone/>
            </a:pPr>
            <a:r>
              <a:rPr lang="en-US" sz="12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mock 流程演示</a:t>
            </a:r>
            <a:endParaRPr lang="en-US" sz="1200" dirty="0"/>
          </a:p>
        </p:txBody>
      </p:sp>
      <p:sp>
        <p:nvSpPr>
          <p:cNvPr id="15" name="Text 13"/>
          <p:cNvSpPr/>
          <p:nvPr/>
        </p:nvSpPr>
        <p:spPr>
          <a:xfrm>
            <a:off x="5705856" y="3310128"/>
            <a:ext cx="1700784" cy="201168"/>
          </a:xfrm>
          <a:prstGeom prst="rect">
            <a:avLst/>
          </a:prstGeom>
          <a:noFill/>
        </p:spPr>
        <p:txBody>
          <a:bodyPr wrap="square" lIns="508" tIns="508" rIns="508" bIns="508" rtlCol="0" anchor="t">
            <a:normAutofit/>
          </a:bodyPr>
          <a:lstStyle/>
          <a:p>
            <a:pPr marL="0" indent="0" algn="ctr">
              <a:buNone/>
            </a:pPr>
            <a:r>
              <a:rPr lang="en-US" sz="120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training = 120</a:t>
            </a:r>
            <a:endParaRPr lang="en-US" sz="1200" dirty="0"/>
          </a:p>
        </p:txBody>
      </p:sp>
      <p:sp>
        <p:nvSpPr>
          <p:cNvPr id="16" name="Shape 14"/>
          <p:cNvSpPr/>
          <p:nvPr/>
        </p:nvSpPr>
        <p:spPr>
          <a:xfrm>
            <a:off x="7827264" y="566928"/>
            <a:ext cx="877824" cy="1901952"/>
          </a:xfrm>
          <a:prstGeom prst="roundRect">
            <a:avLst>
              <a:gd name="adj" fmla="val 12500"/>
            </a:avLst>
          </a:prstGeom>
          <a:solidFill>
            <a:srgbClr val="FFFFFF"/>
          </a:solidFill>
          <a:ln w="10160">
            <a:solidFill>
              <a:srgbClr val="D9E4EA"/>
            </a:solidFill>
            <a:prstDash val="solid"/>
          </a:ln>
        </p:spPr>
      </p:sp>
      <p:pic>
        <p:nvPicPr>
          <p:cNvPr id="17" name="Image 0" descr="/home/win/Project/Study-efficiency/deliverables/figures/ui-1-home.png"/>
          <p:cNvPicPr>
            <a:picLocks noChangeAspect="1"/>
          </p:cNvPicPr>
          <p:nvPr/>
        </p:nvPicPr>
        <p:blipFill>
          <a:blip r:embed="rId1"/>
          <a:stretch>
            <a:fillRect/>
          </a:stretch>
        </p:blipFill>
        <p:spPr>
          <a:xfrm>
            <a:off x="7872984" y="658368"/>
            <a:ext cx="786384" cy="1700784"/>
          </a:xfrm>
          <a:prstGeom prst="rect">
            <a:avLst/>
          </a:prstGeom>
        </p:spPr>
      </p:pic>
      <p:sp>
        <p:nvSpPr>
          <p:cNvPr id="18" name="Shape 15"/>
          <p:cNvSpPr/>
          <p:nvPr/>
        </p:nvSpPr>
        <p:spPr>
          <a:xfrm>
            <a:off x="7616952" y="2514600"/>
            <a:ext cx="1078992" cy="2331720"/>
          </a:xfrm>
          <a:prstGeom prst="roundRect">
            <a:avLst>
              <a:gd name="adj" fmla="val 10169"/>
            </a:avLst>
          </a:prstGeom>
          <a:solidFill>
            <a:srgbClr val="FFFFFF"/>
          </a:solidFill>
          <a:ln w="10160">
            <a:solidFill>
              <a:srgbClr val="D9E4EA"/>
            </a:solidFill>
            <a:prstDash val="solid"/>
          </a:ln>
        </p:spPr>
      </p:sp>
      <p:pic>
        <p:nvPicPr>
          <p:cNvPr id="19" name="Image 1" descr="/home/win/Project/Study-efficiency/deliverables/figures/ui-4-dashboard.png"/>
          <p:cNvPicPr>
            <a:picLocks noChangeAspect="1"/>
          </p:cNvPicPr>
          <p:nvPr/>
        </p:nvPicPr>
        <p:blipFill>
          <a:blip r:embed="rId2"/>
          <a:stretch>
            <a:fillRect/>
          </a:stretch>
        </p:blipFill>
        <p:spPr>
          <a:xfrm>
            <a:off x="7671816" y="2624328"/>
            <a:ext cx="969264" cy="2103120"/>
          </a:xfrm>
          <a:prstGeom prst="rect">
            <a:avLst/>
          </a:prstGeom>
        </p:spPr>
      </p:pic>
      <p:sp>
        <p:nvSpPr>
          <p:cNvPr id="20" name="Text 16"/>
          <p:cNvSpPr/>
          <p:nvPr/>
        </p:nvSpPr>
        <p:spPr>
          <a:xfrm>
            <a:off x="3127248" y="4681728"/>
            <a:ext cx="5303520" cy="228600"/>
          </a:xfrm>
          <a:prstGeom prst="rect">
            <a:avLst/>
          </a:prstGeom>
          <a:noFill/>
        </p:spPr>
        <p:txBody>
          <a:bodyPr wrap="square" lIns="508" tIns="508" rIns="508" bIns="508" rtlCol="0" anchor="t">
            <a:normAutofit/>
          </a:bodyPr>
          <a:lstStyle/>
          <a:p>
            <a:pPr marL="0" indent="0" algn="l">
              <a:buNone/>
            </a:pPr>
            <a:r>
              <a:rPr lang="en-US" sz="10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24级物联网1班    陈嘉宏（202400502094）    蔡天成（202401100012）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BFB"/>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课程设计背景与目标</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目标与边界</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02</a:t>
            </a:r>
            <a:endParaRPr lang="en-US" sz="1000" dirty="0"/>
          </a:p>
        </p:txBody>
      </p:sp>
      <p:sp>
        <p:nvSpPr>
          <p:cNvPr id="7" name="Shape 5"/>
          <p:cNvSpPr/>
          <p:nvPr>
            <p:custDataLst>
              <p:tags r:id="rId1"/>
            </p:custDataLst>
          </p:nvPr>
        </p:nvSpPr>
        <p:spPr>
          <a:xfrm>
            <a:off x="530352" y="987552"/>
            <a:ext cx="2331720" cy="2240280"/>
          </a:xfrm>
          <a:prstGeom prst="roundRect">
            <a:avLst>
              <a:gd name="adj" fmla="val 4082"/>
            </a:avLst>
          </a:prstGeom>
          <a:solidFill>
            <a:srgbClr val="FFFFFF"/>
          </a:solidFill>
          <a:ln w="10160">
            <a:solidFill>
              <a:srgbClr val="2A9D8F"/>
            </a:solidFill>
            <a:prstDash val="solid"/>
          </a:ln>
        </p:spPr>
      </p:sp>
      <p:sp>
        <p:nvSpPr>
          <p:cNvPr id="8" name="Text 6"/>
          <p:cNvSpPr/>
          <p:nvPr>
            <p:custDataLst>
              <p:tags r:id="rId2"/>
            </p:custDataLst>
          </p:nvPr>
        </p:nvSpPr>
        <p:spPr>
          <a:xfrm>
            <a:off x="694944" y="1124712"/>
            <a:ext cx="200253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问题背景</a:t>
            </a:r>
            <a:endParaRPr lang="en-US" sz="1400" dirty="0"/>
          </a:p>
        </p:txBody>
      </p:sp>
      <p:sp>
        <p:nvSpPr>
          <p:cNvPr id="9" name="Text 7"/>
          <p:cNvSpPr/>
          <p:nvPr>
            <p:custDataLst>
              <p:tags r:id="rId3"/>
            </p:custDataLst>
          </p:nvPr>
        </p:nvSpPr>
        <p:spPr>
          <a:xfrm>
            <a:off x="694944" y="1463040"/>
            <a:ext cx="2002536" cy="1673352"/>
          </a:xfrm>
          <a:prstGeom prst="rect">
            <a:avLst/>
          </a:prstGeom>
          <a:noFill/>
        </p:spPr>
        <p:txBody>
          <a:bodyPr wrap="square" lIns="381" tIns="381" rIns="381" bIns="381" rtlCol="0" anchor="t">
            <a:normAutofit/>
          </a:bodyPr>
          <a:lstStyle/>
          <a:p>
            <a:pPr marL="0" indent="0" algn="l">
              <a:buNone/>
            </a:pPr>
            <a:r>
              <a:rPr lang="en-US" sz="11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只记录学习时长，很难解释真实效率差异。同样学习 60 分钟，结果可能受任务类型、疲劳、环境噪声和手机干扰影响。</a:t>
            </a:r>
            <a:endParaRPr lang="en-US" sz="1120" dirty="0"/>
          </a:p>
        </p:txBody>
      </p:sp>
      <p:sp>
        <p:nvSpPr>
          <p:cNvPr id="10" name="Shape 8"/>
          <p:cNvSpPr/>
          <p:nvPr>
            <p:custDataLst>
              <p:tags r:id="rId4"/>
            </p:custDataLst>
          </p:nvPr>
        </p:nvSpPr>
        <p:spPr>
          <a:xfrm>
            <a:off x="3172968" y="987552"/>
            <a:ext cx="2331720" cy="2240280"/>
          </a:xfrm>
          <a:prstGeom prst="roundRect">
            <a:avLst>
              <a:gd name="adj" fmla="val 4082"/>
            </a:avLst>
          </a:prstGeom>
          <a:solidFill>
            <a:srgbClr val="E8F6F1"/>
          </a:solidFill>
          <a:ln w="10160">
            <a:solidFill>
              <a:srgbClr val="2A9D8F"/>
            </a:solidFill>
            <a:prstDash val="solid"/>
          </a:ln>
        </p:spPr>
      </p:sp>
      <p:sp>
        <p:nvSpPr>
          <p:cNvPr id="11" name="Text 9"/>
          <p:cNvSpPr/>
          <p:nvPr>
            <p:custDataLst>
              <p:tags r:id="rId5"/>
            </p:custDataLst>
          </p:nvPr>
        </p:nvSpPr>
        <p:spPr>
          <a:xfrm>
            <a:off x="3337560" y="1124712"/>
            <a:ext cx="200253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系统做法</a:t>
            </a:r>
            <a:endParaRPr lang="en-US" sz="1400" dirty="0"/>
          </a:p>
        </p:txBody>
      </p:sp>
      <p:sp>
        <p:nvSpPr>
          <p:cNvPr id="12" name="Text 10"/>
          <p:cNvSpPr/>
          <p:nvPr>
            <p:custDataLst>
              <p:tags r:id="rId6"/>
            </p:custDataLst>
          </p:nvPr>
        </p:nvSpPr>
        <p:spPr>
          <a:xfrm>
            <a:off x="3337560" y="1463040"/>
            <a:ext cx="2002536" cy="1673352"/>
          </a:xfrm>
          <a:prstGeom prst="rect">
            <a:avLst/>
          </a:prstGeom>
          <a:noFill/>
        </p:spPr>
        <p:txBody>
          <a:bodyPr wrap="square" lIns="381" tIns="381" rIns="381" bIns="381" rtlCol="0" anchor="t">
            <a:normAutofit/>
          </a:bodyPr>
          <a:lstStyle/>
          <a:p>
            <a:pPr marL="0" indent="0" algn="l">
              <a:buNone/>
            </a:pPr>
            <a:r>
              <a:rPr lang="en-US" sz="11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用手机浏览器完成学习打卡、自报告量表和可选运动聚合特征采集；后端统一保存并导出训练数据。</a:t>
            </a:r>
            <a:endParaRPr lang="en-US" sz="1120" dirty="0"/>
          </a:p>
        </p:txBody>
      </p:sp>
      <p:sp>
        <p:nvSpPr>
          <p:cNvPr id="13" name="Shape 11"/>
          <p:cNvSpPr/>
          <p:nvPr>
            <p:custDataLst>
              <p:tags r:id="rId7"/>
            </p:custDataLst>
          </p:nvPr>
        </p:nvSpPr>
        <p:spPr>
          <a:xfrm>
            <a:off x="5815584" y="987552"/>
            <a:ext cx="2331720" cy="2240280"/>
          </a:xfrm>
          <a:prstGeom prst="roundRect">
            <a:avLst>
              <a:gd name="adj" fmla="val 4082"/>
            </a:avLst>
          </a:prstGeom>
          <a:solidFill>
            <a:srgbClr val="FFF4D6"/>
          </a:solidFill>
          <a:ln w="10160">
            <a:solidFill>
              <a:srgbClr val="E9C46A"/>
            </a:solidFill>
            <a:prstDash val="solid"/>
          </a:ln>
        </p:spPr>
      </p:sp>
      <p:sp>
        <p:nvSpPr>
          <p:cNvPr id="14" name="Text 12"/>
          <p:cNvSpPr/>
          <p:nvPr>
            <p:custDataLst>
              <p:tags r:id="rId8"/>
            </p:custDataLst>
          </p:nvPr>
        </p:nvSpPr>
        <p:spPr>
          <a:xfrm>
            <a:off x="5980176" y="1124712"/>
            <a:ext cx="200253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交付目标</a:t>
            </a:r>
            <a:endParaRPr lang="en-US" sz="1400" dirty="0"/>
          </a:p>
        </p:txBody>
      </p:sp>
      <p:sp>
        <p:nvSpPr>
          <p:cNvPr id="15" name="Text 13"/>
          <p:cNvSpPr/>
          <p:nvPr>
            <p:custDataLst>
              <p:tags r:id="rId9"/>
            </p:custDataLst>
          </p:nvPr>
        </p:nvSpPr>
        <p:spPr>
          <a:xfrm>
            <a:off x="5980176" y="1463040"/>
            <a:ext cx="2002536" cy="1673352"/>
          </a:xfrm>
          <a:prstGeom prst="rect">
            <a:avLst/>
          </a:prstGeom>
          <a:noFill/>
        </p:spPr>
        <p:txBody>
          <a:bodyPr wrap="square" lIns="381" tIns="381" rIns="381" bIns="381" rtlCol="0" anchor="t">
            <a:normAutofit/>
          </a:bodyPr>
          <a:lstStyle/>
          <a:p>
            <a:pPr marL="0" indent="0" algn="l">
              <a:buNone/>
            </a:pPr>
            <a:r>
              <a:rPr lang="en-US" sz="11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优先保证系统能跑通、能演示、能讲清 Python 后端、数据处理、模型预测与看板展示，不追求论文级实验。</a:t>
            </a:r>
            <a:endParaRPr lang="en-US" sz="1120" dirty="0"/>
          </a:p>
        </p:txBody>
      </p:sp>
      <p:sp>
        <p:nvSpPr>
          <p:cNvPr id="16" name="Shape 14"/>
          <p:cNvSpPr/>
          <p:nvPr/>
        </p:nvSpPr>
        <p:spPr>
          <a:xfrm>
            <a:off x="530352" y="3749040"/>
            <a:ext cx="7626096" cy="658368"/>
          </a:xfrm>
          <a:prstGeom prst="rect">
            <a:avLst/>
          </a:prstGeom>
          <a:solidFill>
            <a:srgbClr val="122A36"/>
          </a:solidFill>
          <a:ln w="6350">
            <a:solidFill>
              <a:srgbClr val="122A36"/>
            </a:solidFill>
            <a:prstDash val="solid"/>
          </a:ln>
        </p:spPr>
      </p:sp>
      <p:sp>
        <p:nvSpPr>
          <p:cNvPr id="17" name="Text 15"/>
          <p:cNvSpPr/>
          <p:nvPr/>
        </p:nvSpPr>
        <p:spPr>
          <a:xfrm>
            <a:off x="822960" y="3941064"/>
            <a:ext cx="640080" cy="164592"/>
          </a:xfrm>
          <a:prstGeom prst="rect">
            <a:avLst/>
          </a:prstGeom>
          <a:noFill/>
        </p:spPr>
        <p:txBody>
          <a:bodyPr wrap="square" lIns="0" tIns="0" rIns="0" bIns="0" rtlCol="0" anchor="t">
            <a:normAutofit/>
          </a:bodyPr>
          <a:lstStyle/>
          <a:p>
            <a:pPr marL="0" indent="0" algn="l">
              <a:buNone/>
            </a:pPr>
            <a:r>
              <a:rPr lang="en-US" sz="1200" b="1" dirty="0">
                <a:solidFill>
                  <a:srgbClr val="E9C46A"/>
                </a:solidFill>
                <a:latin typeface="微软雅黑" panose="020B0503020204020204" pitchFamily="34" charset="-122"/>
                <a:ea typeface="微软雅黑" panose="020B0503020204020204" pitchFamily="34" charset="-122"/>
                <a:cs typeface="微软雅黑" panose="020B0503020204020204" pitchFamily="34" charset="-120"/>
              </a:rPr>
              <a:t>主线</a:t>
            </a:r>
            <a:endParaRPr lang="en-US" sz="1200" dirty="0"/>
          </a:p>
        </p:txBody>
      </p:sp>
      <p:sp>
        <p:nvSpPr>
          <p:cNvPr id="18" name="Text 16"/>
          <p:cNvSpPr/>
          <p:nvPr/>
        </p:nvSpPr>
        <p:spPr>
          <a:xfrm>
            <a:off x="1481328" y="3913632"/>
            <a:ext cx="6263640" cy="201168"/>
          </a:xfrm>
          <a:prstGeom prst="rect">
            <a:avLst/>
          </a:prstGeom>
          <a:noFill/>
        </p:spPr>
        <p:txBody>
          <a:bodyPr wrap="square" lIns="0" tIns="0" rIns="0" bIns="0" rtlCol="0" anchor="t">
            <a:normAutofit/>
          </a:bodyPr>
          <a:lstStyle/>
          <a:p>
            <a:pPr marL="0" indent="0" algn="l">
              <a:buNone/>
            </a:pPr>
            <a:r>
              <a:rPr lang="en-US" sz="13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手机轻量感知 → Python 后端 → 数据清洗 → RandomForest 预测 → 分析看板</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BFB"/>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系统总体架构</a:t>
            </a:r>
            <a:endParaRPr lang="en-US" sz="2600" dirty="0"/>
          </a:p>
        </p:txBody>
      </p:sp>
      <p:sp>
        <p:nvSpPr>
          <p:cNvPr id="3" name="Shape 1"/>
          <p:cNvSpPr/>
          <p:nvPr/>
        </p:nvSpPr>
        <p:spPr>
          <a:xfrm>
            <a:off x="7505065" y="347345"/>
            <a:ext cx="1057910" cy="234950"/>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系统设计</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03</a:t>
            </a:r>
            <a:endParaRPr lang="en-US" sz="1000" dirty="0"/>
          </a:p>
        </p:txBody>
      </p:sp>
      <p:sp>
        <p:nvSpPr>
          <p:cNvPr id="7" name="Shape 5"/>
          <p:cNvSpPr/>
          <p:nvPr/>
        </p:nvSpPr>
        <p:spPr>
          <a:xfrm>
            <a:off x="502920" y="1005840"/>
            <a:ext cx="1389888" cy="987552"/>
          </a:xfrm>
          <a:prstGeom prst="roundRect">
            <a:avLst>
              <a:gd name="adj" fmla="val 8333"/>
            </a:avLst>
          </a:prstGeom>
          <a:solidFill>
            <a:srgbClr val="FFFFFF"/>
          </a:solidFill>
          <a:ln w="10160">
            <a:solidFill>
              <a:srgbClr val="2A9D8F"/>
            </a:solidFill>
            <a:prstDash val="solid"/>
          </a:ln>
        </p:spPr>
      </p:sp>
      <p:sp>
        <p:nvSpPr>
          <p:cNvPr id="8" name="Shape 6"/>
          <p:cNvSpPr/>
          <p:nvPr/>
        </p:nvSpPr>
        <p:spPr>
          <a:xfrm>
            <a:off x="612648" y="1133856"/>
            <a:ext cx="256032" cy="256032"/>
          </a:xfrm>
          <a:prstGeom prst="ellipse">
            <a:avLst/>
          </a:prstGeom>
          <a:solidFill>
            <a:srgbClr val="2A9D8F"/>
          </a:solidFill>
          <a:ln w="12700">
            <a:solidFill>
              <a:srgbClr val="2A9D8F"/>
            </a:solidFill>
            <a:prstDash val="solid"/>
          </a:ln>
        </p:spPr>
      </p:sp>
      <p:sp>
        <p:nvSpPr>
          <p:cNvPr id="9" name="Text 7"/>
          <p:cNvSpPr/>
          <p:nvPr/>
        </p:nvSpPr>
        <p:spPr>
          <a:xfrm>
            <a:off x="612648" y="1184148"/>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800" dirty="0"/>
          </a:p>
        </p:txBody>
      </p:sp>
      <p:sp>
        <p:nvSpPr>
          <p:cNvPr id="10" name="Text 8"/>
          <p:cNvSpPr/>
          <p:nvPr/>
        </p:nvSpPr>
        <p:spPr>
          <a:xfrm>
            <a:off x="923544" y="1124712"/>
            <a:ext cx="85953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手机浏览器</a:t>
            </a:r>
            <a:endParaRPr lang="en-US" sz="1120" dirty="0"/>
          </a:p>
        </p:txBody>
      </p:sp>
      <p:sp>
        <p:nvSpPr>
          <p:cNvPr id="11" name="Text 9"/>
          <p:cNvSpPr/>
          <p:nvPr/>
        </p:nvSpPr>
        <p:spPr>
          <a:xfrm>
            <a:off x="612648" y="1399032"/>
            <a:ext cx="1170432" cy="548640"/>
          </a:xfrm>
          <a:prstGeom prst="rect">
            <a:avLst/>
          </a:prstGeom>
          <a:noFill/>
        </p:spPr>
        <p:txBody>
          <a:bodyPr wrap="square" lIns="254" tIns="254" rIns="254" bIns="254" rtlCol="0" anchor="t">
            <a:normAutofit/>
          </a:bodyPr>
          <a:lstStyle/>
          <a:p>
            <a:pPr marL="0" indent="0" algn="l">
              <a:buNone/>
            </a:pPr>
            <a:r>
              <a:rPr lang="en-US" sz="8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打卡、自报告</a:t>
            </a:r>
            <a:endParaRPr lang="en-US" sz="870" dirty="0"/>
          </a:p>
          <a:p>
            <a:pPr marL="0" indent="0" algn="l">
              <a:buNone/>
            </a:pPr>
            <a:r>
              <a:rPr lang="en-US" sz="8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可选运动采集</a:t>
            </a:r>
            <a:endParaRPr lang="en-US" sz="870" dirty="0"/>
          </a:p>
        </p:txBody>
      </p:sp>
      <p:sp>
        <p:nvSpPr>
          <p:cNvPr id="12" name="Shape 10"/>
          <p:cNvSpPr/>
          <p:nvPr/>
        </p:nvSpPr>
        <p:spPr>
          <a:xfrm>
            <a:off x="1947672" y="1417320"/>
            <a:ext cx="347472" cy="164592"/>
          </a:xfrm>
          <a:prstGeom prst="rightArrow">
            <a:avLst>
              <a:gd name="adj1" fmla="val 50000"/>
              <a:gd name="adj2" fmla="val 50000"/>
            </a:avLst>
          </a:prstGeom>
          <a:solidFill>
            <a:srgbClr val="2A9D8F"/>
          </a:solidFill>
          <a:ln w="12700">
            <a:solidFill>
              <a:srgbClr val="2A9D8F"/>
            </a:solidFill>
            <a:prstDash val="solid"/>
          </a:ln>
        </p:spPr>
      </p:sp>
      <p:sp>
        <p:nvSpPr>
          <p:cNvPr id="13" name="Shape 11"/>
          <p:cNvSpPr/>
          <p:nvPr/>
        </p:nvSpPr>
        <p:spPr>
          <a:xfrm>
            <a:off x="2331720" y="1005840"/>
            <a:ext cx="1389888" cy="987552"/>
          </a:xfrm>
          <a:prstGeom prst="roundRect">
            <a:avLst>
              <a:gd name="adj" fmla="val 8333"/>
            </a:avLst>
          </a:prstGeom>
          <a:solidFill>
            <a:srgbClr val="E8F6F1"/>
          </a:solidFill>
          <a:ln w="10160">
            <a:solidFill>
              <a:srgbClr val="2A9D8F"/>
            </a:solidFill>
            <a:prstDash val="solid"/>
          </a:ln>
        </p:spPr>
      </p:sp>
      <p:sp>
        <p:nvSpPr>
          <p:cNvPr id="14" name="Shape 12"/>
          <p:cNvSpPr/>
          <p:nvPr/>
        </p:nvSpPr>
        <p:spPr>
          <a:xfrm>
            <a:off x="2441448" y="1133856"/>
            <a:ext cx="256032" cy="256032"/>
          </a:xfrm>
          <a:prstGeom prst="ellipse">
            <a:avLst/>
          </a:prstGeom>
          <a:solidFill>
            <a:srgbClr val="2A9D8F"/>
          </a:solidFill>
          <a:ln w="12700">
            <a:solidFill>
              <a:srgbClr val="2A9D8F"/>
            </a:solidFill>
            <a:prstDash val="solid"/>
          </a:ln>
        </p:spPr>
      </p:sp>
      <p:sp>
        <p:nvSpPr>
          <p:cNvPr id="15" name="Text 13"/>
          <p:cNvSpPr/>
          <p:nvPr/>
        </p:nvSpPr>
        <p:spPr>
          <a:xfrm>
            <a:off x="2441448" y="1184148"/>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800" dirty="0"/>
          </a:p>
        </p:txBody>
      </p:sp>
      <p:sp>
        <p:nvSpPr>
          <p:cNvPr id="16" name="Text 14"/>
          <p:cNvSpPr/>
          <p:nvPr/>
        </p:nvSpPr>
        <p:spPr>
          <a:xfrm>
            <a:off x="2752344" y="1124712"/>
            <a:ext cx="85953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Vue 3 前端</a:t>
            </a:r>
            <a:endParaRPr lang="en-US" sz="1120" dirty="0"/>
          </a:p>
        </p:txBody>
      </p:sp>
      <p:sp>
        <p:nvSpPr>
          <p:cNvPr id="17" name="Text 15"/>
          <p:cNvSpPr/>
          <p:nvPr/>
        </p:nvSpPr>
        <p:spPr>
          <a:xfrm>
            <a:off x="2441448" y="1399032"/>
            <a:ext cx="1170432" cy="548640"/>
          </a:xfrm>
          <a:prstGeom prst="rect">
            <a:avLst/>
          </a:prstGeom>
          <a:noFill/>
        </p:spPr>
        <p:txBody>
          <a:bodyPr wrap="square" lIns="254" tIns="254" rIns="254" bIns="254" rtlCol="0" anchor="t">
            <a:normAutofit/>
          </a:bodyPr>
          <a:lstStyle/>
          <a:p>
            <a:pPr marL="0" indent="0" algn="l">
              <a:buNone/>
            </a:pPr>
            <a:r>
              <a:rPr lang="en-US" sz="8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页面流程</a:t>
            </a:r>
            <a:endParaRPr lang="en-US" sz="870" dirty="0"/>
          </a:p>
          <a:p>
            <a:pPr marL="0" indent="0" algn="l">
              <a:buNone/>
            </a:pPr>
            <a:r>
              <a:rPr lang="en-US" sz="8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分析看板</a:t>
            </a:r>
            <a:endParaRPr lang="en-US" sz="870" dirty="0"/>
          </a:p>
        </p:txBody>
      </p:sp>
      <p:sp>
        <p:nvSpPr>
          <p:cNvPr id="18" name="Shape 16"/>
          <p:cNvSpPr/>
          <p:nvPr/>
        </p:nvSpPr>
        <p:spPr>
          <a:xfrm>
            <a:off x="3776472" y="1417320"/>
            <a:ext cx="347472" cy="164592"/>
          </a:xfrm>
          <a:prstGeom prst="rightArrow">
            <a:avLst>
              <a:gd name="adj1" fmla="val 50000"/>
              <a:gd name="adj2" fmla="val 50000"/>
            </a:avLst>
          </a:prstGeom>
          <a:solidFill>
            <a:srgbClr val="2A9D8F"/>
          </a:solidFill>
          <a:ln w="12700">
            <a:solidFill>
              <a:srgbClr val="2A9D8F"/>
            </a:solidFill>
            <a:prstDash val="solid"/>
          </a:ln>
        </p:spPr>
      </p:sp>
      <p:sp>
        <p:nvSpPr>
          <p:cNvPr id="19" name="Shape 17"/>
          <p:cNvSpPr/>
          <p:nvPr/>
        </p:nvSpPr>
        <p:spPr>
          <a:xfrm>
            <a:off x="4160520" y="1005840"/>
            <a:ext cx="1389888" cy="987552"/>
          </a:xfrm>
          <a:prstGeom prst="roundRect">
            <a:avLst>
              <a:gd name="adj" fmla="val 8333"/>
            </a:avLst>
          </a:prstGeom>
          <a:solidFill>
            <a:srgbClr val="FFFFFF"/>
          </a:solidFill>
          <a:ln w="10160">
            <a:solidFill>
              <a:srgbClr val="2A9D8F"/>
            </a:solidFill>
            <a:prstDash val="solid"/>
          </a:ln>
        </p:spPr>
      </p:sp>
      <p:sp>
        <p:nvSpPr>
          <p:cNvPr id="20" name="Shape 18"/>
          <p:cNvSpPr/>
          <p:nvPr/>
        </p:nvSpPr>
        <p:spPr>
          <a:xfrm>
            <a:off x="4270248" y="1133856"/>
            <a:ext cx="256032" cy="256032"/>
          </a:xfrm>
          <a:prstGeom prst="ellipse">
            <a:avLst/>
          </a:prstGeom>
          <a:solidFill>
            <a:srgbClr val="2A9D8F"/>
          </a:solidFill>
          <a:ln w="12700">
            <a:solidFill>
              <a:srgbClr val="2A9D8F"/>
            </a:solidFill>
            <a:prstDash val="solid"/>
          </a:ln>
        </p:spPr>
      </p:sp>
      <p:sp>
        <p:nvSpPr>
          <p:cNvPr id="21" name="Text 19"/>
          <p:cNvSpPr/>
          <p:nvPr/>
        </p:nvSpPr>
        <p:spPr>
          <a:xfrm>
            <a:off x="4270248" y="1184148"/>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800" dirty="0"/>
          </a:p>
        </p:txBody>
      </p:sp>
      <p:sp>
        <p:nvSpPr>
          <p:cNvPr id="22" name="Text 20"/>
          <p:cNvSpPr/>
          <p:nvPr/>
        </p:nvSpPr>
        <p:spPr>
          <a:xfrm>
            <a:off x="4580890" y="1124585"/>
            <a:ext cx="903605" cy="219710"/>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FastAPI 后端</a:t>
            </a:r>
            <a:endParaRPr lang="en-US" sz="1120" dirty="0"/>
          </a:p>
        </p:txBody>
      </p:sp>
      <p:sp>
        <p:nvSpPr>
          <p:cNvPr id="23" name="Text 21"/>
          <p:cNvSpPr/>
          <p:nvPr/>
        </p:nvSpPr>
        <p:spPr>
          <a:xfrm>
            <a:off x="4270248" y="1399032"/>
            <a:ext cx="1170432" cy="548640"/>
          </a:xfrm>
          <a:prstGeom prst="rect">
            <a:avLst/>
          </a:prstGeom>
          <a:noFill/>
        </p:spPr>
        <p:txBody>
          <a:bodyPr wrap="square" lIns="254" tIns="254" rIns="254" bIns="254" rtlCol="0" anchor="t">
            <a:normAutofit/>
          </a:bodyPr>
          <a:lstStyle/>
          <a:p>
            <a:pPr marL="0" indent="0" algn="l">
              <a:buNone/>
            </a:pPr>
            <a:r>
              <a:rPr lang="en-US" sz="8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业务校验</a:t>
            </a:r>
            <a:endParaRPr lang="en-US" sz="870" dirty="0"/>
          </a:p>
          <a:p>
            <a:pPr marL="0" indent="0" algn="l">
              <a:buNone/>
            </a:pPr>
            <a:r>
              <a:rPr lang="en-US" sz="8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模型服务</a:t>
            </a:r>
            <a:endParaRPr lang="en-US" sz="870" dirty="0"/>
          </a:p>
        </p:txBody>
      </p:sp>
      <p:sp>
        <p:nvSpPr>
          <p:cNvPr id="24" name="Shape 22"/>
          <p:cNvSpPr/>
          <p:nvPr/>
        </p:nvSpPr>
        <p:spPr>
          <a:xfrm>
            <a:off x="5605272" y="1417320"/>
            <a:ext cx="347472" cy="164592"/>
          </a:xfrm>
          <a:prstGeom prst="rightArrow">
            <a:avLst>
              <a:gd name="adj1" fmla="val 50000"/>
              <a:gd name="adj2" fmla="val 50000"/>
            </a:avLst>
          </a:prstGeom>
          <a:solidFill>
            <a:srgbClr val="2A9D8F"/>
          </a:solidFill>
          <a:ln w="12700">
            <a:solidFill>
              <a:srgbClr val="2A9D8F"/>
            </a:solidFill>
            <a:prstDash val="solid"/>
          </a:ln>
        </p:spPr>
      </p:sp>
      <p:sp>
        <p:nvSpPr>
          <p:cNvPr id="25" name="Shape 23"/>
          <p:cNvSpPr/>
          <p:nvPr/>
        </p:nvSpPr>
        <p:spPr>
          <a:xfrm>
            <a:off x="5989320" y="1005840"/>
            <a:ext cx="1389888" cy="987552"/>
          </a:xfrm>
          <a:prstGeom prst="roundRect">
            <a:avLst>
              <a:gd name="adj" fmla="val 8333"/>
            </a:avLst>
          </a:prstGeom>
          <a:solidFill>
            <a:srgbClr val="E8F6F1"/>
          </a:solidFill>
          <a:ln w="10160">
            <a:solidFill>
              <a:srgbClr val="2A9D8F"/>
            </a:solidFill>
            <a:prstDash val="solid"/>
          </a:ln>
        </p:spPr>
      </p:sp>
      <p:sp>
        <p:nvSpPr>
          <p:cNvPr id="26" name="Shape 24"/>
          <p:cNvSpPr/>
          <p:nvPr/>
        </p:nvSpPr>
        <p:spPr>
          <a:xfrm>
            <a:off x="6099048" y="1133856"/>
            <a:ext cx="256032" cy="256032"/>
          </a:xfrm>
          <a:prstGeom prst="ellipse">
            <a:avLst/>
          </a:prstGeom>
          <a:solidFill>
            <a:srgbClr val="2A9D8F"/>
          </a:solidFill>
          <a:ln w="12700">
            <a:solidFill>
              <a:srgbClr val="2A9D8F"/>
            </a:solidFill>
            <a:prstDash val="solid"/>
          </a:ln>
        </p:spPr>
      </p:sp>
      <p:sp>
        <p:nvSpPr>
          <p:cNvPr id="27" name="Text 25"/>
          <p:cNvSpPr/>
          <p:nvPr/>
        </p:nvSpPr>
        <p:spPr>
          <a:xfrm>
            <a:off x="6099048" y="1184148"/>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800" dirty="0"/>
          </a:p>
        </p:txBody>
      </p:sp>
      <p:sp>
        <p:nvSpPr>
          <p:cNvPr id="28" name="Text 26"/>
          <p:cNvSpPr/>
          <p:nvPr/>
        </p:nvSpPr>
        <p:spPr>
          <a:xfrm>
            <a:off x="6409944" y="1124712"/>
            <a:ext cx="85953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数据库</a:t>
            </a:r>
            <a:endParaRPr lang="en-US" sz="1120" dirty="0"/>
          </a:p>
        </p:txBody>
      </p:sp>
      <p:sp>
        <p:nvSpPr>
          <p:cNvPr id="29" name="Text 27"/>
          <p:cNvSpPr/>
          <p:nvPr/>
        </p:nvSpPr>
        <p:spPr>
          <a:xfrm>
            <a:off x="6099048" y="1399032"/>
            <a:ext cx="1170432" cy="548640"/>
          </a:xfrm>
          <a:prstGeom prst="rect">
            <a:avLst/>
          </a:prstGeom>
          <a:noFill/>
        </p:spPr>
        <p:txBody>
          <a:bodyPr wrap="square" lIns="254" tIns="254" rIns="254" bIns="254" rtlCol="0" anchor="t">
            <a:normAutofit/>
          </a:bodyPr>
          <a:lstStyle/>
          <a:p>
            <a:pPr marL="0" indent="0" algn="l">
              <a:buNone/>
            </a:pPr>
            <a:r>
              <a:rPr lang="en-US" sz="8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users / sessions</a:t>
            </a:r>
            <a:endParaRPr lang="en-US" sz="870" dirty="0"/>
          </a:p>
          <a:p>
            <a:pPr marL="0" indent="0" algn="l">
              <a:buNone/>
            </a:pPr>
            <a:r>
              <a:rPr lang="en-US" sz="8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motion / predictions</a:t>
            </a:r>
            <a:endParaRPr lang="en-US" sz="870" dirty="0"/>
          </a:p>
        </p:txBody>
      </p:sp>
      <p:sp>
        <p:nvSpPr>
          <p:cNvPr id="30" name="Shape 28"/>
          <p:cNvSpPr/>
          <p:nvPr/>
        </p:nvSpPr>
        <p:spPr>
          <a:xfrm>
            <a:off x="2057400" y="2907792"/>
            <a:ext cx="1508760" cy="932688"/>
          </a:xfrm>
          <a:prstGeom prst="roundRect">
            <a:avLst>
              <a:gd name="adj" fmla="val 8824"/>
            </a:avLst>
          </a:prstGeom>
          <a:solidFill>
            <a:srgbClr val="FFF4D6"/>
          </a:solidFill>
          <a:ln w="10160">
            <a:solidFill>
              <a:srgbClr val="E9C46A"/>
            </a:solidFill>
            <a:prstDash val="solid"/>
          </a:ln>
        </p:spPr>
      </p:sp>
      <p:sp>
        <p:nvSpPr>
          <p:cNvPr id="31" name="Shape 29"/>
          <p:cNvSpPr/>
          <p:nvPr/>
        </p:nvSpPr>
        <p:spPr>
          <a:xfrm>
            <a:off x="2167128" y="3035808"/>
            <a:ext cx="256032" cy="256032"/>
          </a:xfrm>
          <a:prstGeom prst="ellipse">
            <a:avLst/>
          </a:prstGeom>
          <a:solidFill>
            <a:srgbClr val="E9C46A"/>
          </a:solidFill>
          <a:ln w="12700">
            <a:solidFill>
              <a:srgbClr val="E9C46A"/>
            </a:solidFill>
            <a:prstDash val="solid"/>
          </a:ln>
        </p:spPr>
      </p:sp>
      <p:sp>
        <p:nvSpPr>
          <p:cNvPr id="32" name="Text 30"/>
          <p:cNvSpPr/>
          <p:nvPr/>
        </p:nvSpPr>
        <p:spPr>
          <a:xfrm>
            <a:off x="2167128" y="3086100"/>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A</a:t>
            </a:r>
            <a:endParaRPr lang="en-US" sz="800" dirty="0"/>
          </a:p>
        </p:txBody>
      </p:sp>
      <p:sp>
        <p:nvSpPr>
          <p:cNvPr id="33" name="Text 31"/>
          <p:cNvSpPr/>
          <p:nvPr/>
        </p:nvSpPr>
        <p:spPr>
          <a:xfrm>
            <a:off x="2478024" y="3026664"/>
            <a:ext cx="978408"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Python 脚本</a:t>
            </a:r>
            <a:endParaRPr lang="en-US" sz="1120" dirty="0"/>
          </a:p>
        </p:txBody>
      </p:sp>
      <p:sp>
        <p:nvSpPr>
          <p:cNvPr id="34" name="Text 32"/>
          <p:cNvSpPr/>
          <p:nvPr/>
        </p:nvSpPr>
        <p:spPr>
          <a:xfrm>
            <a:off x="2167128" y="3300984"/>
            <a:ext cx="1289304" cy="493776"/>
          </a:xfrm>
          <a:prstGeom prst="rect">
            <a:avLst/>
          </a:prstGeom>
          <a:noFill/>
        </p:spPr>
        <p:txBody>
          <a:bodyPr wrap="square" lIns="254" tIns="254" rIns="254" bIns="254" rtlCol="0" anchor="t">
            <a:normAutofit/>
          </a:bodyPr>
          <a:lstStyle/>
          <a:p>
            <a:pPr marL="0" indent="0" algn="l">
              <a:buNone/>
            </a:pPr>
            <a:r>
              <a:rPr lang="en-US" sz="88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导出 CSV</a:t>
            </a:r>
            <a:endParaRPr lang="en-US" sz="880" dirty="0"/>
          </a:p>
          <a:p>
            <a:pPr marL="0" indent="0" algn="l">
              <a:buNone/>
            </a:pPr>
            <a:r>
              <a:rPr lang="en-US" sz="88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质量检查</a:t>
            </a:r>
            <a:endParaRPr lang="en-US" sz="880" dirty="0"/>
          </a:p>
        </p:txBody>
      </p:sp>
      <p:sp>
        <p:nvSpPr>
          <p:cNvPr id="35" name="Shape 33"/>
          <p:cNvSpPr/>
          <p:nvPr/>
        </p:nvSpPr>
        <p:spPr>
          <a:xfrm>
            <a:off x="3977640" y="2907792"/>
            <a:ext cx="1508760" cy="932688"/>
          </a:xfrm>
          <a:prstGeom prst="roundRect">
            <a:avLst>
              <a:gd name="adj" fmla="val 8824"/>
            </a:avLst>
          </a:prstGeom>
          <a:solidFill>
            <a:srgbClr val="FCEDE9"/>
          </a:solidFill>
          <a:ln w="10160">
            <a:solidFill>
              <a:srgbClr val="E76F51"/>
            </a:solidFill>
            <a:prstDash val="solid"/>
          </a:ln>
        </p:spPr>
      </p:sp>
      <p:sp>
        <p:nvSpPr>
          <p:cNvPr id="36" name="Shape 34"/>
          <p:cNvSpPr/>
          <p:nvPr/>
        </p:nvSpPr>
        <p:spPr>
          <a:xfrm>
            <a:off x="4087368" y="3035808"/>
            <a:ext cx="256032" cy="256032"/>
          </a:xfrm>
          <a:prstGeom prst="ellipse">
            <a:avLst/>
          </a:prstGeom>
          <a:solidFill>
            <a:srgbClr val="E76F51"/>
          </a:solidFill>
          <a:ln w="12700">
            <a:solidFill>
              <a:srgbClr val="E76F51"/>
            </a:solidFill>
            <a:prstDash val="solid"/>
          </a:ln>
        </p:spPr>
      </p:sp>
      <p:sp>
        <p:nvSpPr>
          <p:cNvPr id="37" name="Text 35"/>
          <p:cNvSpPr/>
          <p:nvPr/>
        </p:nvSpPr>
        <p:spPr>
          <a:xfrm>
            <a:off x="4087368" y="3086100"/>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B</a:t>
            </a:r>
            <a:endParaRPr lang="en-US" sz="800" dirty="0"/>
          </a:p>
        </p:txBody>
      </p:sp>
      <p:sp>
        <p:nvSpPr>
          <p:cNvPr id="38" name="Text 36"/>
          <p:cNvSpPr/>
          <p:nvPr/>
        </p:nvSpPr>
        <p:spPr>
          <a:xfrm>
            <a:off x="4398264" y="3026664"/>
            <a:ext cx="978408" cy="219456"/>
          </a:xfrm>
          <a:prstGeom prst="rect">
            <a:avLst/>
          </a:prstGeom>
          <a:noFill/>
        </p:spPr>
        <p:txBody>
          <a:bodyPr wrap="square" lIns="508" tIns="508" rIns="508" bIns="508" rtlCol="0" anchor="t">
            <a:normAutofit/>
          </a:bodyPr>
          <a:lstStyle/>
          <a:p>
            <a:pPr marL="0" indent="0" algn="l">
              <a:buNone/>
            </a:pPr>
            <a:r>
              <a:rPr lang="en-US" sz="10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RandomForest</a:t>
            </a:r>
            <a:endParaRPr lang="en-US" sz="10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9" name="Text 37"/>
          <p:cNvSpPr/>
          <p:nvPr/>
        </p:nvSpPr>
        <p:spPr>
          <a:xfrm>
            <a:off x="4087368" y="3300984"/>
            <a:ext cx="1289304" cy="493776"/>
          </a:xfrm>
          <a:prstGeom prst="rect">
            <a:avLst/>
          </a:prstGeom>
          <a:noFill/>
        </p:spPr>
        <p:txBody>
          <a:bodyPr wrap="square" lIns="254" tIns="254" rIns="254" bIns="254" rtlCol="0" anchor="t">
            <a:normAutofit/>
          </a:bodyPr>
          <a:lstStyle/>
          <a:p>
            <a:pPr marL="0" indent="0" algn="l">
              <a:buNone/>
            </a:pPr>
            <a:r>
              <a:rPr lang="en-US" sz="8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低/中/高三分类</a:t>
            </a:r>
            <a:endParaRPr lang="en-US" sz="820" dirty="0"/>
          </a:p>
          <a:p>
            <a:pPr marL="0" indent="0" algn="l">
              <a:buNone/>
            </a:pPr>
            <a:r>
              <a:rPr lang="en-US" sz="8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指标与重要性</a:t>
            </a:r>
            <a:endParaRPr lang="en-US" sz="820" dirty="0"/>
          </a:p>
        </p:txBody>
      </p:sp>
      <p:sp>
        <p:nvSpPr>
          <p:cNvPr id="40" name="Shape 38"/>
          <p:cNvSpPr/>
          <p:nvPr/>
        </p:nvSpPr>
        <p:spPr>
          <a:xfrm>
            <a:off x="3621024" y="3300984"/>
            <a:ext cx="310896" cy="146304"/>
          </a:xfrm>
          <a:prstGeom prst="rightArrow">
            <a:avLst>
              <a:gd name="adj1" fmla="val 50000"/>
              <a:gd name="adj2" fmla="val 50000"/>
            </a:avLst>
          </a:prstGeom>
          <a:solidFill>
            <a:srgbClr val="264653"/>
          </a:solidFill>
          <a:ln w="12700">
            <a:solidFill>
              <a:srgbClr val="264653"/>
            </a:solidFill>
            <a:prstDash val="solid"/>
          </a:ln>
        </p:spPr>
      </p:sp>
      <p:sp>
        <p:nvSpPr>
          <p:cNvPr id="41" name="Shape 39"/>
          <p:cNvSpPr/>
          <p:nvPr/>
        </p:nvSpPr>
        <p:spPr>
          <a:xfrm>
            <a:off x="6586347" y="2113153"/>
            <a:ext cx="256032" cy="438912"/>
          </a:xfrm>
          <a:prstGeom prst="downArrow">
            <a:avLst>
              <a:gd name="adj1" fmla="val 50000"/>
              <a:gd name="adj2" fmla="val 50000"/>
            </a:avLst>
          </a:prstGeom>
          <a:solidFill>
            <a:srgbClr val="264653"/>
          </a:solidFill>
          <a:ln w="12700">
            <a:solidFill>
              <a:srgbClr val="264653"/>
            </a:solidFill>
            <a:prstDash val="solid"/>
          </a:ln>
        </p:spPr>
      </p:sp>
      <p:sp>
        <p:nvSpPr>
          <p:cNvPr id="42" name="Shape 40"/>
          <p:cNvSpPr/>
          <p:nvPr/>
        </p:nvSpPr>
        <p:spPr>
          <a:xfrm>
            <a:off x="5541264" y="3273552"/>
            <a:ext cx="384048" cy="164592"/>
          </a:xfrm>
          <a:prstGeom prst="leftArrow">
            <a:avLst>
              <a:gd name="adj1" fmla="val 50000"/>
              <a:gd name="adj2" fmla="val 50000"/>
            </a:avLst>
          </a:prstGeom>
          <a:solidFill>
            <a:srgbClr val="264653"/>
          </a:solidFill>
          <a:ln w="12700">
            <a:solidFill>
              <a:srgbClr val="264653"/>
            </a:solidFill>
            <a:prstDash val="solid"/>
          </a:ln>
        </p:spPr>
      </p:sp>
      <p:sp>
        <p:nvSpPr>
          <p:cNvPr id="43" name="Shape 41"/>
          <p:cNvSpPr/>
          <p:nvPr/>
        </p:nvSpPr>
        <p:spPr>
          <a:xfrm>
            <a:off x="6054725" y="2705735"/>
            <a:ext cx="1372870" cy="1267460"/>
          </a:xfrm>
          <a:prstGeom prst="roundRect">
            <a:avLst>
              <a:gd name="adj" fmla="val 6410"/>
            </a:avLst>
          </a:prstGeom>
          <a:solidFill>
            <a:srgbClr val="FFFFFF"/>
          </a:solidFill>
          <a:ln w="10160">
            <a:solidFill>
              <a:srgbClr val="D9E4EA"/>
            </a:solidFill>
            <a:prstDash val="solid"/>
          </a:ln>
        </p:spPr>
      </p:sp>
      <p:sp>
        <p:nvSpPr>
          <p:cNvPr id="44" name="Text 42"/>
          <p:cNvSpPr/>
          <p:nvPr/>
        </p:nvSpPr>
        <p:spPr>
          <a:xfrm>
            <a:off x="6219190" y="2842133"/>
            <a:ext cx="1481328"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设计边界</a:t>
            </a:r>
            <a:endParaRPr lang="en-US" sz="1400" dirty="0"/>
          </a:p>
        </p:txBody>
      </p:sp>
      <p:sp>
        <p:nvSpPr>
          <p:cNvPr id="45" name="Text 43"/>
          <p:cNvSpPr/>
          <p:nvPr/>
        </p:nvSpPr>
        <p:spPr>
          <a:xfrm>
            <a:off x="6219190" y="3180461"/>
            <a:ext cx="1481328" cy="859536"/>
          </a:xfrm>
          <a:prstGeom prst="rect">
            <a:avLst/>
          </a:prstGeom>
          <a:noFill/>
        </p:spPr>
        <p:txBody>
          <a:bodyPr wrap="square" lIns="381" tIns="381" rIns="381" bIns="381" rtlCol="0" anchor="t">
            <a:normAutofit/>
          </a:bodyPr>
          <a:lstStyle/>
          <a:p>
            <a:pPr marL="0" indent="0" algn="l">
              <a:buNone/>
            </a:pPr>
            <a:r>
              <a:rPr lang="en-US" sz="9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simple-login</a:t>
            </a:r>
            <a:endParaRPr lang="en-US" sz="960" dirty="0"/>
          </a:p>
          <a:p>
            <a:pPr marL="0" indent="0" algn="l">
              <a:buNone/>
            </a:pPr>
            <a:r>
              <a:rPr lang="en-US" sz="9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不做复杂认证</a:t>
            </a:r>
            <a:endParaRPr lang="en-US" sz="960" dirty="0"/>
          </a:p>
          <a:p>
            <a:pPr marL="0" indent="0" algn="l">
              <a:buNone/>
            </a:pPr>
            <a:r>
              <a:rPr lang="en-US" sz="9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传感器可缺失</a:t>
            </a:r>
            <a:endParaRPr lang="en-US" sz="960" dirty="0"/>
          </a:p>
          <a:p>
            <a:pPr marL="0" indent="0" algn="l">
              <a:buNone/>
            </a:pPr>
            <a:r>
              <a:rPr lang="en-US" sz="9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演示环境可降级</a:t>
            </a:r>
            <a:endParaRPr lang="en-US" sz="960" dirty="0"/>
          </a:p>
        </p:txBody>
      </p:sp>
      <p:sp>
        <p:nvSpPr>
          <p:cNvPr id="46" name="Text 44"/>
          <p:cNvSpPr/>
          <p:nvPr/>
        </p:nvSpPr>
        <p:spPr>
          <a:xfrm>
            <a:off x="713232" y="4370832"/>
            <a:ext cx="7406640" cy="164592"/>
          </a:xfrm>
          <a:prstGeom prst="rect">
            <a:avLst/>
          </a:prstGeom>
          <a:noFill/>
        </p:spPr>
        <p:txBody>
          <a:bodyPr wrap="square" lIns="254" tIns="254" rIns="254" bIns="254" rtlCol="0" anchor="t">
            <a:normAutofit/>
          </a:bodyPr>
          <a:lstStyle/>
          <a:p>
            <a:pPr marL="0" indent="0" algn="ctr">
              <a:buNone/>
            </a:pPr>
            <a:r>
              <a:rPr lang="en-US" sz="85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架构强调课程设计主链路：采集、存储、训练、预测、展示。</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BFB"/>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手机端采集流程</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采集流程</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04</a:t>
            </a:r>
            <a:endParaRPr lang="en-US" sz="1000" dirty="0"/>
          </a:p>
        </p:txBody>
      </p:sp>
      <p:sp>
        <p:nvSpPr>
          <p:cNvPr id="7" name="Shape 5"/>
          <p:cNvSpPr/>
          <p:nvPr/>
        </p:nvSpPr>
        <p:spPr>
          <a:xfrm>
            <a:off x="384048" y="1060704"/>
            <a:ext cx="1115568" cy="932688"/>
          </a:xfrm>
          <a:prstGeom prst="roundRect">
            <a:avLst>
              <a:gd name="adj" fmla="val 8824"/>
            </a:avLst>
          </a:prstGeom>
          <a:solidFill>
            <a:srgbClr val="FFFFFF"/>
          </a:solidFill>
          <a:ln w="10160">
            <a:solidFill>
              <a:srgbClr val="2A9D8F"/>
            </a:solidFill>
            <a:prstDash val="solid"/>
          </a:ln>
        </p:spPr>
      </p:sp>
      <p:sp>
        <p:nvSpPr>
          <p:cNvPr id="8" name="Shape 6"/>
          <p:cNvSpPr/>
          <p:nvPr/>
        </p:nvSpPr>
        <p:spPr>
          <a:xfrm>
            <a:off x="493776" y="1188720"/>
            <a:ext cx="256032" cy="256032"/>
          </a:xfrm>
          <a:prstGeom prst="ellipse">
            <a:avLst/>
          </a:prstGeom>
          <a:solidFill>
            <a:srgbClr val="2A9D8F"/>
          </a:solidFill>
          <a:ln w="12700">
            <a:solidFill>
              <a:srgbClr val="2A9D8F"/>
            </a:solidFill>
            <a:prstDash val="solid"/>
          </a:ln>
        </p:spPr>
      </p:sp>
      <p:sp>
        <p:nvSpPr>
          <p:cNvPr id="9" name="Text 7"/>
          <p:cNvSpPr/>
          <p:nvPr/>
        </p:nvSpPr>
        <p:spPr>
          <a:xfrm>
            <a:off x="493776" y="1239012"/>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800" dirty="0"/>
          </a:p>
        </p:txBody>
      </p:sp>
      <p:sp>
        <p:nvSpPr>
          <p:cNvPr id="10" name="Text 8"/>
          <p:cNvSpPr/>
          <p:nvPr/>
        </p:nvSpPr>
        <p:spPr>
          <a:xfrm>
            <a:off x="804672" y="1179576"/>
            <a:ext cx="58521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登录</a:t>
            </a:r>
            <a:endParaRPr lang="en-US" sz="1120" dirty="0"/>
          </a:p>
        </p:txBody>
      </p:sp>
      <p:sp>
        <p:nvSpPr>
          <p:cNvPr id="11" name="Text 9"/>
          <p:cNvSpPr/>
          <p:nvPr/>
        </p:nvSpPr>
        <p:spPr>
          <a:xfrm>
            <a:off x="493776" y="1453896"/>
            <a:ext cx="896112" cy="493776"/>
          </a:xfrm>
          <a:prstGeom prst="rect">
            <a:avLst/>
          </a:prstGeom>
          <a:noFill/>
        </p:spPr>
        <p:txBody>
          <a:bodyPr wrap="square" lIns="254" tIns="254" rIns="254" bIns="254" rtlCol="0" anchor="t">
            <a:normAutofit/>
          </a:bodyPr>
          <a:lstStyle/>
          <a:p>
            <a:pPr marL="0" indent="0" algn="l">
              <a:buNone/>
            </a:pPr>
            <a:r>
              <a:rPr lang="en-US" sz="8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自选昵称</a:t>
            </a:r>
            <a:endParaRPr lang="en-US" sz="800" dirty="0"/>
          </a:p>
        </p:txBody>
      </p:sp>
      <p:sp>
        <p:nvSpPr>
          <p:cNvPr id="12" name="Shape 10"/>
          <p:cNvSpPr/>
          <p:nvPr/>
        </p:nvSpPr>
        <p:spPr>
          <a:xfrm>
            <a:off x="1527048" y="1435608"/>
            <a:ext cx="219456" cy="128016"/>
          </a:xfrm>
          <a:prstGeom prst="rightArrow">
            <a:avLst>
              <a:gd name="adj1" fmla="val 50000"/>
              <a:gd name="adj2" fmla="val 50000"/>
            </a:avLst>
          </a:prstGeom>
          <a:solidFill>
            <a:srgbClr val="2A9D8F"/>
          </a:solidFill>
          <a:ln w="12700">
            <a:solidFill>
              <a:srgbClr val="2A9D8F"/>
            </a:solidFill>
            <a:prstDash val="solid"/>
          </a:ln>
        </p:spPr>
      </p:sp>
      <p:sp>
        <p:nvSpPr>
          <p:cNvPr id="13" name="Shape 11"/>
          <p:cNvSpPr/>
          <p:nvPr/>
        </p:nvSpPr>
        <p:spPr>
          <a:xfrm>
            <a:off x="1801368" y="1060704"/>
            <a:ext cx="1115568" cy="932688"/>
          </a:xfrm>
          <a:prstGeom prst="roundRect">
            <a:avLst>
              <a:gd name="adj" fmla="val 8824"/>
            </a:avLst>
          </a:prstGeom>
          <a:solidFill>
            <a:srgbClr val="FFFFFF"/>
          </a:solidFill>
          <a:ln w="10160">
            <a:solidFill>
              <a:srgbClr val="2A9D8F"/>
            </a:solidFill>
            <a:prstDash val="solid"/>
          </a:ln>
        </p:spPr>
      </p:sp>
      <p:sp>
        <p:nvSpPr>
          <p:cNvPr id="14" name="Shape 12"/>
          <p:cNvSpPr/>
          <p:nvPr/>
        </p:nvSpPr>
        <p:spPr>
          <a:xfrm>
            <a:off x="1911096" y="1188720"/>
            <a:ext cx="256032" cy="256032"/>
          </a:xfrm>
          <a:prstGeom prst="ellipse">
            <a:avLst/>
          </a:prstGeom>
          <a:solidFill>
            <a:srgbClr val="2A9D8F"/>
          </a:solidFill>
          <a:ln w="12700">
            <a:solidFill>
              <a:srgbClr val="2A9D8F"/>
            </a:solidFill>
            <a:prstDash val="solid"/>
          </a:ln>
        </p:spPr>
      </p:sp>
      <p:sp>
        <p:nvSpPr>
          <p:cNvPr id="15" name="Text 13"/>
          <p:cNvSpPr/>
          <p:nvPr/>
        </p:nvSpPr>
        <p:spPr>
          <a:xfrm>
            <a:off x="1911096" y="1239012"/>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800" dirty="0"/>
          </a:p>
        </p:txBody>
      </p:sp>
      <p:sp>
        <p:nvSpPr>
          <p:cNvPr id="16" name="Text 14"/>
          <p:cNvSpPr/>
          <p:nvPr/>
        </p:nvSpPr>
        <p:spPr>
          <a:xfrm>
            <a:off x="2221992" y="1179576"/>
            <a:ext cx="58521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开始</a:t>
            </a:r>
            <a:endParaRPr lang="en-US" sz="1120" dirty="0"/>
          </a:p>
        </p:txBody>
      </p:sp>
      <p:sp>
        <p:nvSpPr>
          <p:cNvPr id="17" name="Text 15"/>
          <p:cNvSpPr/>
          <p:nvPr/>
        </p:nvSpPr>
        <p:spPr>
          <a:xfrm>
            <a:off x="1911096" y="1453896"/>
            <a:ext cx="896112" cy="493776"/>
          </a:xfrm>
          <a:prstGeom prst="rect">
            <a:avLst/>
          </a:prstGeom>
          <a:noFill/>
        </p:spPr>
        <p:txBody>
          <a:bodyPr wrap="square" lIns="254" tIns="254" rIns="254" bIns="254" rtlCol="0" anchor="t">
            <a:normAutofit/>
          </a:bodyPr>
          <a:lstStyle/>
          <a:p>
            <a:pPr marL="0" indent="0" algn="l">
              <a:buNone/>
            </a:pPr>
            <a:r>
              <a:rPr lang="en-US" sz="8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创建会话</a:t>
            </a:r>
            <a:endParaRPr lang="en-US" sz="800" dirty="0"/>
          </a:p>
        </p:txBody>
      </p:sp>
      <p:sp>
        <p:nvSpPr>
          <p:cNvPr id="18" name="Shape 16"/>
          <p:cNvSpPr/>
          <p:nvPr/>
        </p:nvSpPr>
        <p:spPr>
          <a:xfrm>
            <a:off x="2944368" y="1435608"/>
            <a:ext cx="219456" cy="128016"/>
          </a:xfrm>
          <a:prstGeom prst="rightArrow">
            <a:avLst>
              <a:gd name="adj1" fmla="val 50000"/>
              <a:gd name="adj2" fmla="val 50000"/>
            </a:avLst>
          </a:prstGeom>
          <a:solidFill>
            <a:srgbClr val="2A9D8F"/>
          </a:solidFill>
          <a:ln w="12700">
            <a:solidFill>
              <a:srgbClr val="2A9D8F"/>
            </a:solidFill>
            <a:prstDash val="solid"/>
          </a:ln>
        </p:spPr>
      </p:sp>
      <p:sp>
        <p:nvSpPr>
          <p:cNvPr id="19" name="Shape 17"/>
          <p:cNvSpPr/>
          <p:nvPr/>
        </p:nvSpPr>
        <p:spPr>
          <a:xfrm>
            <a:off x="3218688" y="1060704"/>
            <a:ext cx="1115568" cy="932688"/>
          </a:xfrm>
          <a:prstGeom prst="roundRect">
            <a:avLst>
              <a:gd name="adj" fmla="val 8824"/>
            </a:avLst>
          </a:prstGeom>
          <a:solidFill>
            <a:srgbClr val="FFF4D6"/>
          </a:solidFill>
          <a:ln w="10160">
            <a:solidFill>
              <a:srgbClr val="E9C46A"/>
            </a:solidFill>
            <a:prstDash val="solid"/>
          </a:ln>
        </p:spPr>
      </p:sp>
      <p:sp>
        <p:nvSpPr>
          <p:cNvPr id="20" name="Shape 18"/>
          <p:cNvSpPr/>
          <p:nvPr/>
        </p:nvSpPr>
        <p:spPr>
          <a:xfrm>
            <a:off x="3328416" y="1188720"/>
            <a:ext cx="256032" cy="256032"/>
          </a:xfrm>
          <a:prstGeom prst="ellipse">
            <a:avLst/>
          </a:prstGeom>
          <a:solidFill>
            <a:srgbClr val="2A9D8F"/>
          </a:solidFill>
          <a:ln w="12700">
            <a:solidFill>
              <a:srgbClr val="2A9D8F"/>
            </a:solidFill>
            <a:prstDash val="solid"/>
          </a:ln>
        </p:spPr>
      </p:sp>
      <p:sp>
        <p:nvSpPr>
          <p:cNvPr id="21" name="Text 19"/>
          <p:cNvSpPr/>
          <p:nvPr/>
        </p:nvSpPr>
        <p:spPr>
          <a:xfrm>
            <a:off x="3328416" y="1239012"/>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800" dirty="0"/>
          </a:p>
        </p:txBody>
      </p:sp>
      <p:sp>
        <p:nvSpPr>
          <p:cNvPr id="22" name="Text 20"/>
          <p:cNvSpPr/>
          <p:nvPr/>
        </p:nvSpPr>
        <p:spPr>
          <a:xfrm>
            <a:off x="3639312" y="1179576"/>
            <a:ext cx="58521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学习中</a:t>
            </a:r>
            <a:endParaRPr lang="en-US" sz="1120" dirty="0"/>
          </a:p>
        </p:txBody>
      </p:sp>
      <p:sp>
        <p:nvSpPr>
          <p:cNvPr id="23" name="Text 21"/>
          <p:cNvSpPr/>
          <p:nvPr/>
        </p:nvSpPr>
        <p:spPr>
          <a:xfrm>
            <a:off x="3328416" y="1453896"/>
            <a:ext cx="896112" cy="493776"/>
          </a:xfrm>
          <a:prstGeom prst="rect">
            <a:avLst/>
          </a:prstGeom>
          <a:noFill/>
        </p:spPr>
        <p:txBody>
          <a:bodyPr wrap="square" lIns="254" tIns="254" rIns="254" bIns="254" rtlCol="0" anchor="t">
            <a:normAutofit/>
          </a:bodyPr>
          <a:lstStyle/>
          <a:p>
            <a:pPr marL="0" indent="0" algn="l">
              <a:buNone/>
            </a:pPr>
            <a:r>
              <a:rPr lang="en-US" sz="8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计时/运动聚合</a:t>
            </a:r>
            <a:endParaRPr lang="en-US" sz="800" dirty="0"/>
          </a:p>
        </p:txBody>
      </p:sp>
      <p:sp>
        <p:nvSpPr>
          <p:cNvPr id="24" name="Shape 22"/>
          <p:cNvSpPr/>
          <p:nvPr/>
        </p:nvSpPr>
        <p:spPr>
          <a:xfrm>
            <a:off x="4361688" y="1435608"/>
            <a:ext cx="219456" cy="128016"/>
          </a:xfrm>
          <a:prstGeom prst="rightArrow">
            <a:avLst>
              <a:gd name="adj1" fmla="val 50000"/>
              <a:gd name="adj2" fmla="val 50000"/>
            </a:avLst>
          </a:prstGeom>
          <a:solidFill>
            <a:srgbClr val="2A9D8F"/>
          </a:solidFill>
          <a:ln w="12700">
            <a:solidFill>
              <a:srgbClr val="2A9D8F"/>
            </a:solidFill>
            <a:prstDash val="solid"/>
          </a:ln>
        </p:spPr>
      </p:sp>
      <p:sp>
        <p:nvSpPr>
          <p:cNvPr id="25" name="Shape 23"/>
          <p:cNvSpPr/>
          <p:nvPr/>
        </p:nvSpPr>
        <p:spPr>
          <a:xfrm>
            <a:off x="4636008" y="1060704"/>
            <a:ext cx="1115568" cy="932688"/>
          </a:xfrm>
          <a:prstGeom prst="roundRect">
            <a:avLst>
              <a:gd name="adj" fmla="val 8824"/>
            </a:avLst>
          </a:prstGeom>
          <a:solidFill>
            <a:srgbClr val="FFFFFF"/>
          </a:solidFill>
          <a:ln w="10160">
            <a:solidFill>
              <a:srgbClr val="2A9D8F"/>
            </a:solidFill>
            <a:prstDash val="solid"/>
          </a:ln>
        </p:spPr>
      </p:sp>
      <p:sp>
        <p:nvSpPr>
          <p:cNvPr id="26" name="Shape 24"/>
          <p:cNvSpPr/>
          <p:nvPr/>
        </p:nvSpPr>
        <p:spPr>
          <a:xfrm>
            <a:off x="4745736" y="1188720"/>
            <a:ext cx="256032" cy="256032"/>
          </a:xfrm>
          <a:prstGeom prst="ellipse">
            <a:avLst/>
          </a:prstGeom>
          <a:solidFill>
            <a:srgbClr val="2A9D8F"/>
          </a:solidFill>
          <a:ln w="12700">
            <a:solidFill>
              <a:srgbClr val="2A9D8F"/>
            </a:solidFill>
            <a:prstDash val="solid"/>
          </a:ln>
        </p:spPr>
      </p:sp>
      <p:sp>
        <p:nvSpPr>
          <p:cNvPr id="27" name="Text 25"/>
          <p:cNvSpPr/>
          <p:nvPr/>
        </p:nvSpPr>
        <p:spPr>
          <a:xfrm>
            <a:off x="4745736" y="1239012"/>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800" dirty="0"/>
          </a:p>
        </p:txBody>
      </p:sp>
      <p:sp>
        <p:nvSpPr>
          <p:cNvPr id="28" name="Text 26"/>
          <p:cNvSpPr/>
          <p:nvPr/>
        </p:nvSpPr>
        <p:spPr>
          <a:xfrm>
            <a:off x="5056632" y="1179576"/>
            <a:ext cx="58521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结束表单</a:t>
            </a:r>
            <a:endParaRPr lang="en-US" sz="1120" dirty="0"/>
          </a:p>
        </p:txBody>
      </p:sp>
      <p:sp>
        <p:nvSpPr>
          <p:cNvPr id="29" name="Text 27"/>
          <p:cNvSpPr/>
          <p:nvPr/>
        </p:nvSpPr>
        <p:spPr>
          <a:xfrm>
            <a:off x="4745736" y="1453896"/>
            <a:ext cx="896112" cy="493776"/>
          </a:xfrm>
          <a:prstGeom prst="rect">
            <a:avLst/>
          </a:prstGeom>
          <a:noFill/>
        </p:spPr>
        <p:txBody>
          <a:bodyPr wrap="square" lIns="254" tIns="254" rIns="254" bIns="254" rtlCol="0" anchor="t">
            <a:normAutofit/>
          </a:bodyPr>
          <a:lstStyle/>
          <a:p>
            <a:pPr marL="0" indent="0" algn="l">
              <a:buNone/>
            </a:pPr>
            <a:r>
              <a:rPr lang="en-US" sz="8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填写量表</a:t>
            </a:r>
            <a:endParaRPr lang="en-US" sz="800" dirty="0"/>
          </a:p>
        </p:txBody>
      </p:sp>
      <p:sp>
        <p:nvSpPr>
          <p:cNvPr id="30" name="Shape 28"/>
          <p:cNvSpPr/>
          <p:nvPr/>
        </p:nvSpPr>
        <p:spPr>
          <a:xfrm>
            <a:off x="5779008" y="1435608"/>
            <a:ext cx="219456" cy="128016"/>
          </a:xfrm>
          <a:prstGeom prst="rightArrow">
            <a:avLst>
              <a:gd name="adj1" fmla="val 50000"/>
              <a:gd name="adj2" fmla="val 50000"/>
            </a:avLst>
          </a:prstGeom>
          <a:solidFill>
            <a:srgbClr val="2A9D8F"/>
          </a:solidFill>
          <a:ln w="12700">
            <a:solidFill>
              <a:srgbClr val="2A9D8F"/>
            </a:solidFill>
            <a:prstDash val="solid"/>
          </a:ln>
        </p:spPr>
      </p:sp>
      <p:sp>
        <p:nvSpPr>
          <p:cNvPr id="31" name="Shape 29"/>
          <p:cNvSpPr/>
          <p:nvPr/>
        </p:nvSpPr>
        <p:spPr>
          <a:xfrm>
            <a:off x="6053328" y="1060704"/>
            <a:ext cx="1115568" cy="932688"/>
          </a:xfrm>
          <a:prstGeom prst="roundRect">
            <a:avLst>
              <a:gd name="adj" fmla="val 8824"/>
            </a:avLst>
          </a:prstGeom>
          <a:solidFill>
            <a:srgbClr val="FFFFFF"/>
          </a:solidFill>
          <a:ln w="10160">
            <a:solidFill>
              <a:srgbClr val="2A9D8F"/>
            </a:solidFill>
            <a:prstDash val="solid"/>
          </a:ln>
        </p:spPr>
      </p:sp>
      <p:sp>
        <p:nvSpPr>
          <p:cNvPr id="32" name="Shape 30"/>
          <p:cNvSpPr/>
          <p:nvPr/>
        </p:nvSpPr>
        <p:spPr>
          <a:xfrm>
            <a:off x="6163056" y="1188720"/>
            <a:ext cx="256032" cy="256032"/>
          </a:xfrm>
          <a:prstGeom prst="ellipse">
            <a:avLst/>
          </a:prstGeom>
          <a:solidFill>
            <a:srgbClr val="2A9D8F"/>
          </a:solidFill>
          <a:ln w="12700">
            <a:solidFill>
              <a:srgbClr val="2A9D8F"/>
            </a:solidFill>
            <a:prstDash val="solid"/>
          </a:ln>
        </p:spPr>
      </p:sp>
      <p:sp>
        <p:nvSpPr>
          <p:cNvPr id="33" name="Text 31"/>
          <p:cNvSpPr/>
          <p:nvPr/>
        </p:nvSpPr>
        <p:spPr>
          <a:xfrm>
            <a:off x="6163056" y="1239012"/>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800" dirty="0"/>
          </a:p>
        </p:txBody>
      </p:sp>
      <p:sp>
        <p:nvSpPr>
          <p:cNvPr id="34" name="Text 32"/>
          <p:cNvSpPr/>
          <p:nvPr/>
        </p:nvSpPr>
        <p:spPr>
          <a:xfrm>
            <a:off x="6473952" y="1179576"/>
            <a:ext cx="58521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保存</a:t>
            </a:r>
            <a:endParaRPr lang="en-US" sz="1120" dirty="0"/>
          </a:p>
        </p:txBody>
      </p:sp>
      <p:sp>
        <p:nvSpPr>
          <p:cNvPr id="35" name="Text 33"/>
          <p:cNvSpPr/>
          <p:nvPr/>
        </p:nvSpPr>
        <p:spPr>
          <a:xfrm>
            <a:off x="6163056" y="1453896"/>
            <a:ext cx="896112" cy="493776"/>
          </a:xfrm>
          <a:prstGeom prst="rect">
            <a:avLst/>
          </a:prstGeom>
          <a:noFill/>
        </p:spPr>
        <p:txBody>
          <a:bodyPr wrap="square" lIns="254" tIns="254" rIns="254" bIns="254" rtlCol="0" anchor="t">
            <a:normAutofit/>
          </a:bodyPr>
          <a:lstStyle/>
          <a:p>
            <a:pPr marL="0" indent="0" algn="l">
              <a:buNone/>
            </a:pPr>
            <a:r>
              <a:rPr lang="en-US" sz="8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生成标签</a:t>
            </a:r>
            <a:endParaRPr lang="en-US" sz="800" dirty="0"/>
          </a:p>
        </p:txBody>
      </p:sp>
      <p:sp>
        <p:nvSpPr>
          <p:cNvPr id="36" name="Shape 34"/>
          <p:cNvSpPr/>
          <p:nvPr/>
        </p:nvSpPr>
        <p:spPr>
          <a:xfrm>
            <a:off x="7196328" y="1435608"/>
            <a:ext cx="219456" cy="128016"/>
          </a:xfrm>
          <a:prstGeom prst="rightArrow">
            <a:avLst>
              <a:gd name="adj1" fmla="val 50000"/>
              <a:gd name="adj2" fmla="val 50000"/>
            </a:avLst>
          </a:prstGeom>
          <a:solidFill>
            <a:srgbClr val="2A9D8F"/>
          </a:solidFill>
          <a:ln w="12700">
            <a:solidFill>
              <a:srgbClr val="2A9D8F"/>
            </a:solidFill>
            <a:prstDash val="solid"/>
          </a:ln>
        </p:spPr>
      </p:sp>
      <p:sp>
        <p:nvSpPr>
          <p:cNvPr id="37" name="Shape 35"/>
          <p:cNvSpPr/>
          <p:nvPr/>
        </p:nvSpPr>
        <p:spPr>
          <a:xfrm>
            <a:off x="7470648" y="1060704"/>
            <a:ext cx="1115568" cy="932688"/>
          </a:xfrm>
          <a:prstGeom prst="roundRect">
            <a:avLst>
              <a:gd name="adj" fmla="val 8824"/>
            </a:avLst>
          </a:prstGeom>
          <a:solidFill>
            <a:srgbClr val="FCEDE9"/>
          </a:solidFill>
          <a:ln w="10160">
            <a:solidFill>
              <a:srgbClr val="E76F51"/>
            </a:solidFill>
            <a:prstDash val="solid"/>
          </a:ln>
        </p:spPr>
      </p:sp>
      <p:sp>
        <p:nvSpPr>
          <p:cNvPr id="38" name="Shape 36"/>
          <p:cNvSpPr/>
          <p:nvPr/>
        </p:nvSpPr>
        <p:spPr>
          <a:xfrm>
            <a:off x="7580376" y="1188720"/>
            <a:ext cx="256032" cy="256032"/>
          </a:xfrm>
          <a:prstGeom prst="ellipse">
            <a:avLst/>
          </a:prstGeom>
          <a:solidFill>
            <a:srgbClr val="2A9D8F"/>
          </a:solidFill>
          <a:ln w="12700">
            <a:solidFill>
              <a:srgbClr val="2A9D8F"/>
            </a:solidFill>
            <a:prstDash val="solid"/>
          </a:ln>
        </p:spPr>
      </p:sp>
      <p:sp>
        <p:nvSpPr>
          <p:cNvPr id="39" name="Text 37"/>
          <p:cNvSpPr/>
          <p:nvPr/>
        </p:nvSpPr>
        <p:spPr>
          <a:xfrm>
            <a:off x="7580376" y="1239012"/>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800" dirty="0"/>
          </a:p>
        </p:txBody>
      </p:sp>
      <p:sp>
        <p:nvSpPr>
          <p:cNvPr id="40" name="Text 38"/>
          <p:cNvSpPr/>
          <p:nvPr/>
        </p:nvSpPr>
        <p:spPr>
          <a:xfrm>
            <a:off x="7891272" y="1179576"/>
            <a:ext cx="585216"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看板</a:t>
            </a:r>
            <a:endParaRPr lang="en-US" sz="1120" dirty="0"/>
          </a:p>
        </p:txBody>
      </p:sp>
      <p:sp>
        <p:nvSpPr>
          <p:cNvPr id="41" name="Text 39"/>
          <p:cNvSpPr/>
          <p:nvPr/>
        </p:nvSpPr>
        <p:spPr>
          <a:xfrm>
            <a:off x="7580376" y="1453896"/>
            <a:ext cx="896112" cy="493776"/>
          </a:xfrm>
          <a:prstGeom prst="rect">
            <a:avLst/>
          </a:prstGeom>
          <a:noFill/>
        </p:spPr>
        <p:txBody>
          <a:bodyPr wrap="square" lIns="254" tIns="254" rIns="254" bIns="254" rtlCol="0" anchor="t">
            <a:normAutofit/>
          </a:bodyPr>
          <a:lstStyle/>
          <a:p>
            <a:pPr marL="0" indent="0" algn="l">
              <a:buNone/>
            </a:pPr>
            <a:r>
              <a:rPr lang="en-US" sz="8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趋势预测</a:t>
            </a:r>
            <a:endParaRPr lang="en-US" sz="800" dirty="0"/>
          </a:p>
        </p:txBody>
      </p:sp>
      <p:sp>
        <p:nvSpPr>
          <p:cNvPr id="42" name="Shape 40"/>
          <p:cNvSpPr/>
          <p:nvPr/>
        </p:nvSpPr>
        <p:spPr>
          <a:xfrm>
            <a:off x="566928" y="2761488"/>
            <a:ext cx="8001000" cy="1389888"/>
          </a:xfrm>
          <a:prstGeom prst="rect">
            <a:avLst/>
          </a:prstGeom>
          <a:solidFill>
            <a:srgbClr val="122A36"/>
          </a:solidFill>
          <a:ln w="6350">
            <a:solidFill>
              <a:srgbClr val="122A36"/>
            </a:solidFill>
            <a:prstDash val="solid"/>
          </a:ln>
        </p:spPr>
      </p:sp>
      <p:sp>
        <p:nvSpPr>
          <p:cNvPr id="43" name="Text 41"/>
          <p:cNvSpPr/>
          <p:nvPr/>
        </p:nvSpPr>
        <p:spPr>
          <a:xfrm>
            <a:off x="841248" y="2980944"/>
            <a:ext cx="1051560" cy="256032"/>
          </a:xfrm>
          <a:prstGeom prst="rect">
            <a:avLst/>
          </a:prstGeom>
          <a:noFill/>
        </p:spPr>
        <p:txBody>
          <a:bodyPr wrap="square" lIns="0" tIns="0" rIns="0" bIns="0" rtlCol="0" anchor="t">
            <a:normAutofit/>
          </a:bodyPr>
          <a:lstStyle/>
          <a:p>
            <a:pPr marL="0" indent="0" algn="l">
              <a:buNone/>
            </a:pPr>
            <a:r>
              <a:rPr lang="en-US" sz="1500" b="1" dirty="0">
                <a:solidFill>
                  <a:srgbClr val="E9C46A"/>
                </a:solidFill>
                <a:latin typeface="微软雅黑" panose="020B0503020204020204" pitchFamily="34" charset="-122"/>
                <a:ea typeface="微软雅黑" panose="020B0503020204020204" pitchFamily="34" charset="-122"/>
                <a:cs typeface="微软雅黑" panose="020B0503020204020204" pitchFamily="34" charset="-120"/>
              </a:rPr>
              <a:t>降级策略</a:t>
            </a:r>
            <a:endParaRPr lang="en-US" sz="1500" dirty="0"/>
          </a:p>
        </p:txBody>
      </p:sp>
      <p:sp>
        <p:nvSpPr>
          <p:cNvPr id="44" name="Text 42"/>
          <p:cNvSpPr/>
          <p:nvPr/>
        </p:nvSpPr>
        <p:spPr>
          <a:xfrm>
            <a:off x="1965960" y="2907792"/>
            <a:ext cx="5989320" cy="658368"/>
          </a:xfrm>
          <a:prstGeom prst="rect">
            <a:avLst/>
          </a:prstGeom>
          <a:noFill/>
        </p:spPr>
        <p:txBody>
          <a:bodyPr wrap="square" lIns="254" tIns="254" rIns="254" bIns="254" rtlCol="0" anchor="t">
            <a:normAutofit/>
          </a:bodyPr>
          <a:lstStyle/>
          <a:p>
            <a:pPr marL="0" indent="0" algn="l">
              <a:buNone/>
            </a:pPr>
            <a:r>
              <a:rPr lang="en-US" sz="130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DeviceMotionEvent 不可用、权限被拒绝、页面进入后台或运动特征上传失败时，系统仍允许提交自报告记录。训练导出阶段使用 motion_available 标记缺失机制。</a:t>
            </a:r>
            <a:endParaRPr lang="en-US" sz="1300" dirty="0"/>
          </a:p>
        </p:txBody>
      </p:sp>
      <p:sp>
        <p:nvSpPr>
          <p:cNvPr id="45" name="Shape 43"/>
          <p:cNvSpPr/>
          <p:nvPr/>
        </p:nvSpPr>
        <p:spPr>
          <a:xfrm>
            <a:off x="6903720" y="3685032"/>
            <a:ext cx="1234440" cy="310896"/>
          </a:xfrm>
          <a:prstGeom prst="roundRect">
            <a:avLst>
              <a:gd name="adj" fmla="val 47059"/>
            </a:avLst>
          </a:prstGeom>
          <a:solidFill>
            <a:srgbClr val="E9C46A"/>
          </a:solidFill>
          <a:ln w="10160">
            <a:solidFill>
              <a:srgbClr val="E9C46A"/>
            </a:solidFill>
            <a:prstDash val="solid"/>
          </a:ln>
        </p:spPr>
      </p:sp>
      <p:sp>
        <p:nvSpPr>
          <p:cNvPr id="46" name="Text 44"/>
          <p:cNvSpPr/>
          <p:nvPr/>
        </p:nvSpPr>
        <p:spPr>
          <a:xfrm>
            <a:off x="6903720" y="3735324"/>
            <a:ext cx="1234440" cy="256032"/>
          </a:xfrm>
          <a:prstGeom prst="rect">
            <a:avLst/>
          </a:prstGeom>
          <a:noFill/>
        </p:spPr>
        <p:txBody>
          <a:bodyPr wrap="square" lIns="0" tIns="0" rIns="0" bIns="0" rtlCol="0" anchor="t">
            <a:normAutofit/>
          </a:bodyPr>
          <a:lstStyle/>
          <a:p>
            <a:pPr marL="0" indent="0" algn="ctr">
              <a:buNone/>
            </a:pPr>
            <a:r>
              <a:rPr lang="en-US" sz="950" b="1" dirty="0">
                <a:solidFill>
                  <a:srgbClr val="122A36"/>
                </a:solidFill>
                <a:latin typeface="微软雅黑" panose="020B0503020204020204" pitchFamily="34" charset="-122"/>
                <a:ea typeface="微软雅黑" panose="020B0503020204020204" pitchFamily="34" charset="-122"/>
                <a:cs typeface="微软雅黑" panose="020B0503020204020204" pitchFamily="34" charset="-120"/>
              </a:rPr>
              <a:t>不阻断主流程</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BFB"/>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后端 API 与数据存储</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后端实现</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05</a:t>
            </a:r>
            <a:endParaRPr lang="en-US" sz="1000" dirty="0"/>
          </a:p>
        </p:txBody>
      </p:sp>
      <p:sp>
        <p:nvSpPr>
          <p:cNvPr id="7" name="Shape 5"/>
          <p:cNvSpPr/>
          <p:nvPr/>
        </p:nvSpPr>
        <p:spPr>
          <a:xfrm>
            <a:off x="502920" y="1078992"/>
            <a:ext cx="1298448" cy="2057400"/>
          </a:xfrm>
          <a:prstGeom prst="roundRect">
            <a:avLst>
              <a:gd name="adj" fmla="val 5634"/>
            </a:avLst>
          </a:prstGeom>
          <a:solidFill>
            <a:srgbClr val="E8F6F1"/>
          </a:solidFill>
          <a:ln w="10160">
            <a:solidFill>
              <a:srgbClr val="2A9D8F"/>
            </a:solidFill>
            <a:prstDash val="solid"/>
          </a:ln>
        </p:spPr>
      </p:sp>
      <p:sp>
        <p:nvSpPr>
          <p:cNvPr id="8" name="Text 6"/>
          <p:cNvSpPr/>
          <p:nvPr/>
        </p:nvSpPr>
        <p:spPr>
          <a:xfrm>
            <a:off x="649224" y="1234440"/>
            <a:ext cx="1005840" cy="292608"/>
          </a:xfrm>
          <a:prstGeom prst="rect">
            <a:avLst/>
          </a:prstGeom>
          <a:noFill/>
        </p:spPr>
        <p:txBody>
          <a:bodyPr wrap="square" lIns="508" tIns="508" rIns="508" bIns="508" rtlCol="0" anchor="t">
            <a:normAutofit/>
          </a:bodyPr>
          <a:lstStyle/>
          <a:p>
            <a:pPr marL="0" indent="0" algn="ctr">
              <a:buNone/>
            </a:pPr>
            <a:r>
              <a:rPr lang="en-US" sz="2000" b="1" dirty="0">
                <a:solidFill>
                  <a:srgbClr val="264653"/>
                </a:solidFill>
                <a:latin typeface="Arial" panose="020B0604020202020204" pitchFamily="34" charset="0"/>
                <a:ea typeface="Arial" panose="020B0604020202020204" pitchFamily="34" charset="-122"/>
                <a:cs typeface="Arial" panose="020B0604020202020204" pitchFamily="34" charset="-120"/>
              </a:rPr>
              <a:t>01</a:t>
            </a:r>
            <a:endParaRPr lang="en-US" sz="2000" dirty="0"/>
          </a:p>
        </p:txBody>
      </p:sp>
      <p:sp>
        <p:nvSpPr>
          <p:cNvPr id="9" name="Text 7"/>
          <p:cNvSpPr/>
          <p:nvPr/>
        </p:nvSpPr>
        <p:spPr>
          <a:xfrm>
            <a:off x="649224" y="1719072"/>
            <a:ext cx="1005840" cy="256032"/>
          </a:xfrm>
          <a:prstGeom prst="rect">
            <a:avLst/>
          </a:prstGeom>
          <a:noFill/>
        </p:spPr>
        <p:txBody>
          <a:bodyPr wrap="square" lIns="508" tIns="508" rIns="508" bIns="508" rtlCol="0" anchor="t">
            <a:normAutofit/>
          </a:bodyPr>
          <a:lstStyle/>
          <a:p>
            <a:pPr marL="0" indent="0" algn="ctr">
              <a:buNone/>
            </a:pPr>
            <a:r>
              <a:rPr lang="en-US" sz="13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用户</a:t>
            </a:r>
            <a:endParaRPr lang="en-US" sz="1300" dirty="0"/>
          </a:p>
        </p:txBody>
      </p:sp>
      <p:sp>
        <p:nvSpPr>
          <p:cNvPr id="10" name="Text 8"/>
          <p:cNvSpPr/>
          <p:nvPr/>
        </p:nvSpPr>
        <p:spPr>
          <a:xfrm>
            <a:off x="630936" y="2212848"/>
            <a:ext cx="1042416" cy="493776"/>
          </a:xfrm>
          <a:prstGeom prst="rect">
            <a:avLst/>
          </a:prstGeom>
          <a:noFill/>
        </p:spPr>
        <p:txBody>
          <a:bodyPr wrap="square" lIns="508" tIns="508" rIns="508" bIns="508" rtlCol="0" anchor="t">
            <a:normAutofit/>
          </a:bodyPr>
          <a:lstStyle/>
          <a:p>
            <a:pPr marL="0" indent="0" algn="ctr">
              <a:buNone/>
            </a:pPr>
            <a:r>
              <a:rPr lang="en-US" sz="8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POST /users/simple-login</a:t>
            </a:r>
            <a:endParaRPr lang="en-US" sz="860" dirty="0"/>
          </a:p>
        </p:txBody>
      </p:sp>
      <p:sp>
        <p:nvSpPr>
          <p:cNvPr id="11" name="Shape 9"/>
          <p:cNvSpPr/>
          <p:nvPr/>
        </p:nvSpPr>
        <p:spPr>
          <a:xfrm>
            <a:off x="2130552" y="1078992"/>
            <a:ext cx="1298448" cy="2057400"/>
          </a:xfrm>
          <a:prstGeom prst="roundRect">
            <a:avLst>
              <a:gd name="adj" fmla="val 5634"/>
            </a:avLst>
          </a:prstGeom>
          <a:solidFill>
            <a:srgbClr val="FFFFFF"/>
          </a:solidFill>
          <a:ln w="10160">
            <a:solidFill>
              <a:srgbClr val="2A9D8F"/>
            </a:solidFill>
            <a:prstDash val="solid"/>
          </a:ln>
        </p:spPr>
      </p:sp>
      <p:sp>
        <p:nvSpPr>
          <p:cNvPr id="12" name="Text 10"/>
          <p:cNvSpPr/>
          <p:nvPr/>
        </p:nvSpPr>
        <p:spPr>
          <a:xfrm>
            <a:off x="2276856" y="1234440"/>
            <a:ext cx="1005840" cy="292608"/>
          </a:xfrm>
          <a:prstGeom prst="rect">
            <a:avLst/>
          </a:prstGeom>
          <a:noFill/>
        </p:spPr>
        <p:txBody>
          <a:bodyPr wrap="square" lIns="508" tIns="508" rIns="508" bIns="508" rtlCol="0" anchor="t">
            <a:normAutofit/>
          </a:bodyPr>
          <a:lstStyle/>
          <a:p>
            <a:pPr marL="0" indent="0" algn="ctr">
              <a:buNone/>
            </a:pPr>
            <a:r>
              <a:rPr lang="en-US" sz="2000" b="1" dirty="0">
                <a:solidFill>
                  <a:srgbClr val="2A9D8F"/>
                </a:solidFill>
                <a:latin typeface="Arial" panose="020B0604020202020204" pitchFamily="34" charset="0"/>
                <a:ea typeface="Arial" panose="020B0604020202020204" pitchFamily="34" charset="-122"/>
                <a:cs typeface="Arial" panose="020B0604020202020204" pitchFamily="34" charset="-120"/>
              </a:rPr>
              <a:t>02</a:t>
            </a:r>
            <a:endParaRPr lang="en-US" sz="2000" dirty="0"/>
          </a:p>
        </p:txBody>
      </p:sp>
      <p:sp>
        <p:nvSpPr>
          <p:cNvPr id="13" name="Text 11"/>
          <p:cNvSpPr/>
          <p:nvPr/>
        </p:nvSpPr>
        <p:spPr>
          <a:xfrm>
            <a:off x="2276856" y="1719072"/>
            <a:ext cx="1005840" cy="256032"/>
          </a:xfrm>
          <a:prstGeom prst="rect">
            <a:avLst/>
          </a:prstGeom>
          <a:noFill/>
        </p:spPr>
        <p:txBody>
          <a:bodyPr wrap="square" lIns="508" tIns="508" rIns="508" bIns="508" rtlCol="0" anchor="t">
            <a:normAutofit/>
          </a:bodyPr>
          <a:lstStyle/>
          <a:p>
            <a:pPr marL="0" indent="0" algn="ctr">
              <a:buNone/>
            </a:pPr>
            <a:r>
              <a:rPr lang="en-US" sz="13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学习记录</a:t>
            </a:r>
            <a:endParaRPr lang="en-US" sz="1300" dirty="0"/>
          </a:p>
        </p:txBody>
      </p:sp>
      <p:sp>
        <p:nvSpPr>
          <p:cNvPr id="14" name="Text 12"/>
          <p:cNvSpPr/>
          <p:nvPr/>
        </p:nvSpPr>
        <p:spPr>
          <a:xfrm>
            <a:off x="2258568" y="2212848"/>
            <a:ext cx="1042416" cy="493776"/>
          </a:xfrm>
          <a:prstGeom prst="rect">
            <a:avLst/>
          </a:prstGeom>
          <a:noFill/>
        </p:spPr>
        <p:txBody>
          <a:bodyPr wrap="square" lIns="508" tIns="508" rIns="508" bIns="508" rtlCol="0" anchor="t">
            <a:normAutofit/>
          </a:bodyPr>
          <a:lstStyle/>
          <a:p>
            <a:pPr marL="0" indent="0" algn="ctr">
              <a:buNone/>
            </a:pPr>
            <a:r>
              <a:rPr lang="en-US" sz="8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start / end / list / detail</a:t>
            </a:r>
            <a:endParaRPr lang="en-US" sz="860" dirty="0"/>
          </a:p>
        </p:txBody>
      </p:sp>
      <p:sp>
        <p:nvSpPr>
          <p:cNvPr id="15" name="Shape 13"/>
          <p:cNvSpPr/>
          <p:nvPr/>
        </p:nvSpPr>
        <p:spPr>
          <a:xfrm>
            <a:off x="3758184" y="1078992"/>
            <a:ext cx="1298448" cy="2057400"/>
          </a:xfrm>
          <a:prstGeom prst="roundRect">
            <a:avLst>
              <a:gd name="adj" fmla="val 5634"/>
            </a:avLst>
          </a:prstGeom>
          <a:solidFill>
            <a:srgbClr val="E8F6F1"/>
          </a:solidFill>
          <a:ln w="10160">
            <a:solidFill>
              <a:srgbClr val="2A9D8F"/>
            </a:solidFill>
            <a:prstDash val="solid"/>
          </a:ln>
        </p:spPr>
      </p:sp>
      <p:sp>
        <p:nvSpPr>
          <p:cNvPr id="16" name="Text 14"/>
          <p:cNvSpPr/>
          <p:nvPr/>
        </p:nvSpPr>
        <p:spPr>
          <a:xfrm>
            <a:off x="3904488" y="1234440"/>
            <a:ext cx="1005840" cy="292608"/>
          </a:xfrm>
          <a:prstGeom prst="rect">
            <a:avLst/>
          </a:prstGeom>
          <a:noFill/>
        </p:spPr>
        <p:txBody>
          <a:bodyPr wrap="square" lIns="508" tIns="508" rIns="508" bIns="508" rtlCol="0" anchor="t">
            <a:normAutofit/>
          </a:bodyPr>
          <a:lstStyle/>
          <a:p>
            <a:pPr marL="0" indent="0" algn="ctr">
              <a:buNone/>
            </a:pPr>
            <a:r>
              <a:rPr lang="en-US" sz="2000" b="1" dirty="0">
                <a:solidFill>
                  <a:srgbClr val="264653"/>
                </a:solidFill>
                <a:latin typeface="Arial" panose="020B0604020202020204" pitchFamily="34" charset="0"/>
                <a:ea typeface="Arial" panose="020B0604020202020204" pitchFamily="34" charset="-122"/>
                <a:cs typeface="Arial" panose="020B0604020202020204" pitchFamily="34" charset="-120"/>
              </a:rPr>
              <a:t>03</a:t>
            </a:r>
            <a:endParaRPr lang="en-US" sz="2000" dirty="0"/>
          </a:p>
        </p:txBody>
      </p:sp>
      <p:sp>
        <p:nvSpPr>
          <p:cNvPr id="17" name="Text 15"/>
          <p:cNvSpPr/>
          <p:nvPr/>
        </p:nvSpPr>
        <p:spPr>
          <a:xfrm>
            <a:off x="3904488" y="1719072"/>
            <a:ext cx="1005840" cy="256032"/>
          </a:xfrm>
          <a:prstGeom prst="rect">
            <a:avLst/>
          </a:prstGeom>
          <a:noFill/>
        </p:spPr>
        <p:txBody>
          <a:bodyPr wrap="square" lIns="508" tIns="508" rIns="508" bIns="508" rtlCol="0" anchor="t">
            <a:normAutofit/>
          </a:bodyPr>
          <a:lstStyle/>
          <a:p>
            <a:pPr marL="0" indent="0" algn="ctr">
              <a:buNone/>
            </a:pPr>
            <a:r>
              <a:rPr lang="en-US" sz="13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运动特征</a:t>
            </a:r>
            <a:endParaRPr lang="en-US" sz="1300" dirty="0"/>
          </a:p>
        </p:txBody>
      </p:sp>
      <p:sp>
        <p:nvSpPr>
          <p:cNvPr id="18" name="Text 16"/>
          <p:cNvSpPr/>
          <p:nvPr/>
        </p:nvSpPr>
        <p:spPr>
          <a:xfrm>
            <a:off x="3886200" y="2212848"/>
            <a:ext cx="1042416" cy="493776"/>
          </a:xfrm>
          <a:prstGeom prst="rect">
            <a:avLst/>
          </a:prstGeom>
          <a:noFill/>
        </p:spPr>
        <p:txBody>
          <a:bodyPr wrap="square" lIns="508" tIns="508" rIns="508" bIns="508" rtlCol="0" anchor="t">
            <a:normAutofit/>
          </a:bodyPr>
          <a:lstStyle/>
          <a:p>
            <a:pPr marL="0" indent="0" algn="ctr">
              <a:buNone/>
            </a:pPr>
            <a:r>
              <a:rPr lang="en-US" sz="8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upload / get</a:t>
            </a:r>
            <a:endParaRPr lang="en-US" sz="860" dirty="0"/>
          </a:p>
          <a:p>
            <a:pPr marL="0" indent="0" algn="ctr">
              <a:buNone/>
            </a:pPr>
            <a:r>
              <a:rPr lang="en-US" sz="8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按 session upsert</a:t>
            </a:r>
            <a:endParaRPr lang="en-US" sz="860" dirty="0"/>
          </a:p>
        </p:txBody>
      </p:sp>
      <p:sp>
        <p:nvSpPr>
          <p:cNvPr id="19" name="Shape 17"/>
          <p:cNvSpPr/>
          <p:nvPr/>
        </p:nvSpPr>
        <p:spPr>
          <a:xfrm>
            <a:off x="5385816" y="1078992"/>
            <a:ext cx="1298448" cy="2057400"/>
          </a:xfrm>
          <a:prstGeom prst="roundRect">
            <a:avLst>
              <a:gd name="adj" fmla="val 5634"/>
            </a:avLst>
          </a:prstGeom>
          <a:solidFill>
            <a:srgbClr val="FFFFFF"/>
          </a:solidFill>
          <a:ln w="10160">
            <a:solidFill>
              <a:srgbClr val="2A9D8F"/>
            </a:solidFill>
            <a:prstDash val="solid"/>
          </a:ln>
        </p:spPr>
      </p:sp>
      <p:sp>
        <p:nvSpPr>
          <p:cNvPr id="20" name="Text 18"/>
          <p:cNvSpPr/>
          <p:nvPr/>
        </p:nvSpPr>
        <p:spPr>
          <a:xfrm>
            <a:off x="5532120" y="1234440"/>
            <a:ext cx="1005840" cy="292608"/>
          </a:xfrm>
          <a:prstGeom prst="rect">
            <a:avLst/>
          </a:prstGeom>
          <a:noFill/>
        </p:spPr>
        <p:txBody>
          <a:bodyPr wrap="square" lIns="508" tIns="508" rIns="508" bIns="508" rtlCol="0" anchor="t">
            <a:normAutofit/>
          </a:bodyPr>
          <a:lstStyle/>
          <a:p>
            <a:pPr marL="0" indent="0" algn="ctr">
              <a:buNone/>
            </a:pPr>
            <a:r>
              <a:rPr lang="en-US" sz="2000" b="1" dirty="0">
                <a:solidFill>
                  <a:srgbClr val="2A9D8F"/>
                </a:solidFill>
                <a:latin typeface="Arial" panose="020B0604020202020204" pitchFamily="34" charset="0"/>
                <a:ea typeface="Arial" panose="020B0604020202020204" pitchFamily="34" charset="-122"/>
                <a:cs typeface="Arial" panose="020B0604020202020204" pitchFamily="34" charset="-120"/>
              </a:rPr>
              <a:t>04</a:t>
            </a:r>
            <a:endParaRPr lang="en-US" sz="2000" dirty="0"/>
          </a:p>
        </p:txBody>
      </p:sp>
      <p:sp>
        <p:nvSpPr>
          <p:cNvPr id="21" name="Text 19"/>
          <p:cNvSpPr/>
          <p:nvPr/>
        </p:nvSpPr>
        <p:spPr>
          <a:xfrm>
            <a:off x="5532120" y="1719072"/>
            <a:ext cx="1005840" cy="256032"/>
          </a:xfrm>
          <a:prstGeom prst="rect">
            <a:avLst/>
          </a:prstGeom>
          <a:noFill/>
        </p:spPr>
        <p:txBody>
          <a:bodyPr wrap="square" lIns="508" tIns="508" rIns="508" bIns="508" rtlCol="0" anchor="t">
            <a:normAutofit/>
          </a:bodyPr>
          <a:lstStyle/>
          <a:p>
            <a:pPr marL="0" indent="0" algn="ctr">
              <a:buNone/>
            </a:pPr>
            <a:r>
              <a:rPr lang="en-US" sz="13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模型</a:t>
            </a:r>
            <a:endParaRPr lang="en-US" sz="1300" dirty="0"/>
          </a:p>
        </p:txBody>
      </p:sp>
      <p:sp>
        <p:nvSpPr>
          <p:cNvPr id="22" name="Text 20"/>
          <p:cNvSpPr/>
          <p:nvPr/>
        </p:nvSpPr>
        <p:spPr>
          <a:xfrm>
            <a:off x="5513832" y="2212848"/>
            <a:ext cx="1042416" cy="493776"/>
          </a:xfrm>
          <a:prstGeom prst="rect">
            <a:avLst/>
          </a:prstGeom>
          <a:noFill/>
        </p:spPr>
        <p:txBody>
          <a:bodyPr wrap="square" lIns="508" tIns="508" rIns="508" bIns="508" rtlCol="0" anchor="t">
            <a:normAutofit/>
          </a:bodyPr>
          <a:lstStyle/>
          <a:p>
            <a:pPr marL="0" indent="0" algn="ctr">
              <a:buNone/>
            </a:pPr>
            <a:r>
              <a:rPr lang="en-US" sz="8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train / predict</a:t>
            </a:r>
            <a:endParaRPr lang="en-US" sz="860" dirty="0"/>
          </a:p>
          <a:p>
            <a:pPr marL="0" indent="0" algn="ctr">
              <a:buNone/>
            </a:pPr>
            <a:r>
              <a:rPr lang="en-US" sz="8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metrics / importance</a:t>
            </a:r>
            <a:endParaRPr lang="en-US" sz="860" dirty="0"/>
          </a:p>
        </p:txBody>
      </p:sp>
      <p:sp>
        <p:nvSpPr>
          <p:cNvPr id="23" name="Shape 21"/>
          <p:cNvSpPr/>
          <p:nvPr/>
        </p:nvSpPr>
        <p:spPr>
          <a:xfrm>
            <a:off x="7013448" y="1078992"/>
            <a:ext cx="1298448" cy="2057400"/>
          </a:xfrm>
          <a:prstGeom prst="roundRect">
            <a:avLst>
              <a:gd name="adj" fmla="val 5634"/>
            </a:avLst>
          </a:prstGeom>
          <a:solidFill>
            <a:srgbClr val="E8F6F1"/>
          </a:solidFill>
          <a:ln w="10160">
            <a:solidFill>
              <a:srgbClr val="2A9D8F"/>
            </a:solidFill>
            <a:prstDash val="solid"/>
          </a:ln>
        </p:spPr>
      </p:sp>
      <p:sp>
        <p:nvSpPr>
          <p:cNvPr id="24" name="Text 22"/>
          <p:cNvSpPr/>
          <p:nvPr/>
        </p:nvSpPr>
        <p:spPr>
          <a:xfrm>
            <a:off x="7159752" y="1234440"/>
            <a:ext cx="1005840" cy="292608"/>
          </a:xfrm>
          <a:prstGeom prst="rect">
            <a:avLst/>
          </a:prstGeom>
          <a:noFill/>
        </p:spPr>
        <p:txBody>
          <a:bodyPr wrap="square" lIns="508" tIns="508" rIns="508" bIns="508" rtlCol="0" anchor="t">
            <a:normAutofit/>
          </a:bodyPr>
          <a:lstStyle/>
          <a:p>
            <a:pPr marL="0" indent="0" algn="ctr">
              <a:buNone/>
            </a:pPr>
            <a:r>
              <a:rPr lang="en-US" sz="2000" b="1" dirty="0">
                <a:solidFill>
                  <a:srgbClr val="264653"/>
                </a:solidFill>
                <a:latin typeface="Arial" panose="020B0604020202020204" pitchFamily="34" charset="0"/>
                <a:ea typeface="Arial" panose="020B0604020202020204" pitchFamily="34" charset="-122"/>
                <a:cs typeface="Arial" panose="020B0604020202020204" pitchFamily="34" charset="-120"/>
              </a:rPr>
              <a:t>05</a:t>
            </a:r>
            <a:endParaRPr lang="en-US" sz="2000" dirty="0"/>
          </a:p>
        </p:txBody>
      </p:sp>
      <p:sp>
        <p:nvSpPr>
          <p:cNvPr id="25" name="Text 23"/>
          <p:cNvSpPr/>
          <p:nvPr/>
        </p:nvSpPr>
        <p:spPr>
          <a:xfrm>
            <a:off x="7159752" y="1719072"/>
            <a:ext cx="1005840" cy="256032"/>
          </a:xfrm>
          <a:prstGeom prst="rect">
            <a:avLst/>
          </a:prstGeom>
          <a:noFill/>
        </p:spPr>
        <p:txBody>
          <a:bodyPr wrap="square" lIns="508" tIns="508" rIns="508" bIns="508" rtlCol="0" anchor="t">
            <a:normAutofit/>
          </a:bodyPr>
          <a:lstStyle/>
          <a:p>
            <a:pPr marL="0" indent="0" algn="ctr">
              <a:buNone/>
            </a:pPr>
            <a:r>
              <a:rPr lang="en-US" sz="13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分析</a:t>
            </a:r>
            <a:endParaRPr lang="en-US" sz="1300" dirty="0"/>
          </a:p>
        </p:txBody>
      </p:sp>
      <p:sp>
        <p:nvSpPr>
          <p:cNvPr id="26" name="Text 24"/>
          <p:cNvSpPr/>
          <p:nvPr/>
        </p:nvSpPr>
        <p:spPr>
          <a:xfrm>
            <a:off x="7141464" y="2212848"/>
            <a:ext cx="1042416" cy="493776"/>
          </a:xfrm>
          <a:prstGeom prst="rect">
            <a:avLst/>
          </a:prstGeom>
          <a:noFill/>
        </p:spPr>
        <p:txBody>
          <a:bodyPr wrap="square" lIns="508" tIns="508" rIns="508" bIns="508" rtlCol="0" anchor="t">
            <a:normAutofit/>
          </a:bodyPr>
          <a:lstStyle/>
          <a:p>
            <a:pPr marL="0" indent="0" algn="ctr">
              <a:buNone/>
            </a:pPr>
            <a:r>
              <a:rPr lang="en-US" sz="8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overview / trend</a:t>
            </a:r>
            <a:endParaRPr lang="en-US" sz="860" dirty="0"/>
          </a:p>
          <a:p>
            <a:pPr marL="0" indent="0" algn="ctr">
              <a:buNone/>
            </a:pPr>
            <a:r>
              <a:rPr lang="en-US" sz="8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factor-analysis</a:t>
            </a:r>
            <a:endParaRPr lang="en-US" sz="860" dirty="0"/>
          </a:p>
        </p:txBody>
      </p:sp>
      <p:sp>
        <p:nvSpPr>
          <p:cNvPr id="27" name="Shape 25"/>
          <p:cNvSpPr/>
          <p:nvPr/>
        </p:nvSpPr>
        <p:spPr>
          <a:xfrm>
            <a:off x="640080" y="3703320"/>
            <a:ext cx="7818120" cy="1049020"/>
          </a:xfrm>
          <a:prstGeom prst="roundRect">
            <a:avLst>
              <a:gd name="adj" fmla="val 12500"/>
            </a:avLst>
          </a:prstGeom>
          <a:solidFill>
            <a:srgbClr val="FFFFFF"/>
          </a:solidFill>
          <a:ln w="10160">
            <a:solidFill>
              <a:srgbClr val="D9E4EA"/>
            </a:solidFill>
            <a:prstDash val="solid"/>
          </a:ln>
        </p:spPr>
      </p:sp>
      <p:sp>
        <p:nvSpPr>
          <p:cNvPr id="28" name="Text 26"/>
          <p:cNvSpPr/>
          <p:nvPr/>
        </p:nvSpPr>
        <p:spPr>
          <a:xfrm>
            <a:off x="804672" y="3840480"/>
            <a:ext cx="748893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P0 数据表</a:t>
            </a:r>
            <a:endParaRPr lang="en-US" sz="1400" dirty="0"/>
          </a:p>
        </p:txBody>
      </p:sp>
      <p:sp>
        <p:nvSpPr>
          <p:cNvPr id="29" name="Text 27"/>
          <p:cNvSpPr/>
          <p:nvPr/>
        </p:nvSpPr>
        <p:spPr>
          <a:xfrm>
            <a:off x="804672" y="4178808"/>
            <a:ext cx="7488936" cy="164592"/>
          </a:xfrm>
          <a:prstGeom prst="rect">
            <a:avLst/>
          </a:prstGeom>
          <a:noFill/>
        </p:spPr>
        <p:txBody>
          <a:bodyPr wrap="square" lIns="381" tIns="381" rIns="381" bIns="381" rtlCol="0" anchor="t">
            <a:normAutofit/>
          </a:bodyPr>
          <a:lstStyle/>
          <a:p>
            <a:pPr marL="0" indent="0" algn="l">
              <a:buNone/>
            </a:pPr>
            <a:r>
              <a:rPr lang="en-US" sz="11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users、study_sessions、motion_features、predictions；删除历史记录时先写入 deleted_study_sessions 备份表，避免直接丢失用户记录。</a:t>
            </a:r>
            <a:endParaRPr lang="en-US" sz="11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BFB"/>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特征工程与模型方法</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模型流程</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06</a:t>
            </a:r>
            <a:endParaRPr lang="en-US" sz="1000" dirty="0"/>
          </a:p>
        </p:txBody>
      </p:sp>
      <p:sp>
        <p:nvSpPr>
          <p:cNvPr id="7" name="Shape 5"/>
          <p:cNvSpPr/>
          <p:nvPr/>
        </p:nvSpPr>
        <p:spPr>
          <a:xfrm>
            <a:off x="384048" y="1024128"/>
            <a:ext cx="1097280" cy="914400"/>
          </a:xfrm>
          <a:prstGeom prst="roundRect">
            <a:avLst>
              <a:gd name="adj" fmla="val 9000"/>
            </a:avLst>
          </a:prstGeom>
          <a:solidFill>
            <a:srgbClr val="FFF4D6"/>
          </a:solidFill>
          <a:ln w="10160">
            <a:solidFill>
              <a:srgbClr val="E9C46A"/>
            </a:solidFill>
            <a:prstDash val="solid"/>
          </a:ln>
        </p:spPr>
      </p:sp>
      <p:sp>
        <p:nvSpPr>
          <p:cNvPr id="8" name="Shape 6"/>
          <p:cNvSpPr/>
          <p:nvPr/>
        </p:nvSpPr>
        <p:spPr>
          <a:xfrm>
            <a:off x="493776" y="1152144"/>
            <a:ext cx="256032" cy="256032"/>
          </a:xfrm>
          <a:prstGeom prst="ellipse">
            <a:avLst/>
          </a:prstGeom>
          <a:solidFill>
            <a:srgbClr val="E9C46A"/>
          </a:solidFill>
          <a:ln w="12700">
            <a:solidFill>
              <a:srgbClr val="E9C46A"/>
            </a:solidFill>
            <a:prstDash val="solid"/>
          </a:ln>
        </p:spPr>
      </p:sp>
      <p:sp>
        <p:nvSpPr>
          <p:cNvPr id="9" name="Text 7"/>
          <p:cNvSpPr/>
          <p:nvPr/>
        </p:nvSpPr>
        <p:spPr>
          <a:xfrm>
            <a:off x="493776" y="1202436"/>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800" dirty="0"/>
          </a:p>
        </p:txBody>
      </p:sp>
      <p:sp>
        <p:nvSpPr>
          <p:cNvPr id="10" name="Text 8"/>
          <p:cNvSpPr/>
          <p:nvPr/>
        </p:nvSpPr>
        <p:spPr>
          <a:xfrm>
            <a:off x="773430" y="1143000"/>
            <a:ext cx="819785" cy="219710"/>
          </a:xfrm>
          <a:prstGeom prst="rect">
            <a:avLst/>
          </a:prstGeom>
          <a:noFill/>
        </p:spPr>
        <p:txBody>
          <a:bodyPr wrap="square" lIns="508" tIns="508" rIns="508" bIns="508" rtlCol="0" anchor="t">
            <a:noAutofit/>
          </a:bodyPr>
          <a:lstStyle/>
          <a:p>
            <a:pPr marL="0" indent="0" algn="l">
              <a:buNone/>
            </a:pPr>
            <a:r>
              <a:rPr lang="en-US" sz="10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completed 会话</a:t>
            </a:r>
            <a:endParaRPr lang="en-US" sz="10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1" name="Text 9"/>
          <p:cNvSpPr/>
          <p:nvPr/>
        </p:nvSpPr>
        <p:spPr>
          <a:xfrm>
            <a:off x="493776" y="1417320"/>
            <a:ext cx="877824" cy="475488"/>
          </a:xfrm>
          <a:prstGeom prst="rect">
            <a:avLst/>
          </a:prstGeom>
          <a:noFill/>
        </p:spPr>
        <p:txBody>
          <a:bodyPr wrap="square" lIns="254" tIns="254" rIns="254" bIns="254" rtlCol="0" anchor="t">
            <a:normAutofit/>
          </a:bodyPr>
          <a:lstStyle/>
          <a:p>
            <a:pPr marL="0" indent="0" algn="l">
              <a:buNone/>
            </a:pPr>
            <a:r>
              <a:rPr lang="en-US" sz="78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排除 abandoned</a:t>
            </a:r>
            <a:endParaRPr lang="en-US" sz="780" dirty="0"/>
          </a:p>
        </p:txBody>
      </p:sp>
      <p:sp>
        <p:nvSpPr>
          <p:cNvPr id="12" name="Shape 10"/>
          <p:cNvSpPr/>
          <p:nvPr/>
        </p:nvSpPr>
        <p:spPr>
          <a:xfrm>
            <a:off x="1508760" y="1399032"/>
            <a:ext cx="228600" cy="128016"/>
          </a:xfrm>
          <a:prstGeom prst="rightArrow">
            <a:avLst>
              <a:gd name="adj1" fmla="val 50000"/>
              <a:gd name="adj2" fmla="val 50000"/>
            </a:avLst>
          </a:prstGeom>
          <a:solidFill>
            <a:srgbClr val="264653"/>
          </a:solidFill>
          <a:ln w="12700">
            <a:solidFill>
              <a:srgbClr val="264653"/>
            </a:solidFill>
            <a:prstDash val="solid"/>
          </a:ln>
        </p:spPr>
      </p:sp>
      <p:sp>
        <p:nvSpPr>
          <p:cNvPr id="13" name="Shape 11"/>
          <p:cNvSpPr/>
          <p:nvPr/>
        </p:nvSpPr>
        <p:spPr>
          <a:xfrm>
            <a:off x="1801368" y="1024128"/>
            <a:ext cx="1097280" cy="914400"/>
          </a:xfrm>
          <a:prstGeom prst="roundRect">
            <a:avLst>
              <a:gd name="adj" fmla="val 9000"/>
            </a:avLst>
          </a:prstGeom>
          <a:solidFill>
            <a:srgbClr val="FFF4D6"/>
          </a:solidFill>
          <a:ln w="10160">
            <a:solidFill>
              <a:srgbClr val="E9C46A"/>
            </a:solidFill>
            <a:prstDash val="solid"/>
          </a:ln>
        </p:spPr>
      </p:sp>
      <p:sp>
        <p:nvSpPr>
          <p:cNvPr id="14" name="Shape 12"/>
          <p:cNvSpPr/>
          <p:nvPr/>
        </p:nvSpPr>
        <p:spPr>
          <a:xfrm>
            <a:off x="1911096" y="1152144"/>
            <a:ext cx="256032" cy="256032"/>
          </a:xfrm>
          <a:prstGeom prst="ellipse">
            <a:avLst/>
          </a:prstGeom>
          <a:solidFill>
            <a:srgbClr val="E9C46A"/>
          </a:solidFill>
          <a:ln w="12700">
            <a:solidFill>
              <a:srgbClr val="E9C46A"/>
            </a:solidFill>
            <a:prstDash val="solid"/>
          </a:ln>
        </p:spPr>
      </p:sp>
      <p:sp>
        <p:nvSpPr>
          <p:cNvPr id="15" name="Text 13"/>
          <p:cNvSpPr/>
          <p:nvPr/>
        </p:nvSpPr>
        <p:spPr>
          <a:xfrm>
            <a:off x="1911096" y="1202436"/>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800" dirty="0"/>
          </a:p>
        </p:txBody>
      </p:sp>
      <p:sp>
        <p:nvSpPr>
          <p:cNvPr id="16" name="Text 14"/>
          <p:cNvSpPr/>
          <p:nvPr/>
        </p:nvSpPr>
        <p:spPr>
          <a:xfrm>
            <a:off x="2221865" y="1143000"/>
            <a:ext cx="693420" cy="219710"/>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导出 CSV</a:t>
            </a:r>
            <a:endParaRPr lang="en-US" sz="1120" dirty="0"/>
          </a:p>
        </p:txBody>
      </p:sp>
      <p:sp>
        <p:nvSpPr>
          <p:cNvPr id="17" name="Text 15"/>
          <p:cNvSpPr/>
          <p:nvPr/>
        </p:nvSpPr>
        <p:spPr>
          <a:xfrm>
            <a:off x="1911096" y="1417320"/>
            <a:ext cx="877824" cy="475488"/>
          </a:xfrm>
          <a:prstGeom prst="rect">
            <a:avLst/>
          </a:prstGeom>
          <a:noFill/>
        </p:spPr>
        <p:txBody>
          <a:bodyPr wrap="square" lIns="254" tIns="254" rIns="254" bIns="254" rtlCol="0" anchor="t">
            <a:normAutofit/>
          </a:bodyPr>
          <a:lstStyle/>
          <a:p>
            <a:pPr marL="0" indent="0" algn="l">
              <a:buNone/>
            </a:pPr>
            <a:r>
              <a:rPr lang="en-US" sz="78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左连接运动特征</a:t>
            </a:r>
            <a:endParaRPr lang="en-US" sz="780" dirty="0"/>
          </a:p>
        </p:txBody>
      </p:sp>
      <p:sp>
        <p:nvSpPr>
          <p:cNvPr id="18" name="Shape 16"/>
          <p:cNvSpPr/>
          <p:nvPr/>
        </p:nvSpPr>
        <p:spPr>
          <a:xfrm>
            <a:off x="2926080" y="1399032"/>
            <a:ext cx="228600" cy="128016"/>
          </a:xfrm>
          <a:prstGeom prst="rightArrow">
            <a:avLst>
              <a:gd name="adj1" fmla="val 50000"/>
              <a:gd name="adj2" fmla="val 50000"/>
            </a:avLst>
          </a:prstGeom>
          <a:solidFill>
            <a:srgbClr val="264653"/>
          </a:solidFill>
          <a:ln w="12700">
            <a:solidFill>
              <a:srgbClr val="264653"/>
            </a:solidFill>
            <a:prstDash val="solid"/>
          </a:ln>
        </p:spPr>
      </p:sp>
      <p:sp>
        <p:nvSpPr>
          <p:cNvPr id="19" name="Shape 17"/>
          <p:cNvSpPr/>
          <p:nvPr/>
        </p:nvSpPr>
        <p:spPr>
          <a:xfrm>
            <a:off x="3218688" y="1024128"/>
            <a:ext cx="1097280" cy="914400"/>
          </a:xfrm>
          <a:prstGeom prst="roundRect">
            <a:avLst>
              <a:gd name="adj" fmla="val 9000"/>
            </a:avLst>
          </a:prstGeom>
          <a:solidFill>
            <a:srgbClr val="FFF4D6"/>
          </a:solidFill>
          <a:ln w="10160">
            <a:solidFill>
              <a:srgbClr val="E9C46A"/>
            </a:solidFill>
            <a:prstDash val="solid"/>
          </a:ln>
        </p:spPr>
      </p:sp>
      <p:sp>
        <p:nvSpPr>
          <p:cNvPr id="20" name="Shape 18"/>
          <p:cNvSpPr/>
          <p:nvPr/>
        </p:nvSpPr>
        <p:spPr>
          <a:xfrm>
            <a:off x="3328416" y="1152144"/>
            <a:ext cx="256032" cy="256032"/>
          </a:xfrm>
          <a:prstGeom prst="ellipse">
            <a:avLst/>
          </a:prstGeom>
          <a:solidFill>
            <a:srgbClr val="E9C46A"/>
          </a:solidFill>
          <a:ln w="12700">
            <a:solidFill>
              <a:srgbClr val="E9C46A"/>
            </a:solidFill>
            <a:prstDash val="solid"/>
          </a:ln>
        </p:spPr>
      </p:sp>
      <p:sp>
        <p:nvSpPr>
          <p:cNvPr id="21" name="Text 19"/>
          <p:cNvSpPr/>
          <p:nvPr/>
        </p:nvSpPr>
        <p:spPr>
          <a:xfrm>
            <a:off x="3328416" y="1202436"/>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800" dirty="0"/>
          </a:p>
        </p:txBody>
      </p:sp>
      <p:sp>
        <p:nvSpPr>
          <p:cNvPr id="22" name="Text 20"/>
          <p:cNvSpPr/>
          <p:nvPr/>
        </p:nvSpPr>
        <p:spPr>
          <a:xfrm>
            <a:off x="3639185" y="1143000"/>
            <a:ext cx="640080" cy="219710"/>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质量检查</a:t>
            </a:r>
            <a:endParaRPr lang="en-US" sz="1120" dirty="0"/>
          </a:p>
        </p:txBody>
      </p:sp>
      <p:sp>
        <p:nvSpPr>
          <p:cNvPr id="23" name="Text 21"/>
          <p:cNvSpPr/>
          <p:nvPr/>
        </p:nvSpPr>
        <p:spPr>
          <a:xfrm>
            <a:off x="3328416" y="1417320"/>
            <a:ext cx="877824" cy="475488"/>
          </a:xfrm>
          <a:prstGeom prst="rect">
            <a:avLst/>
          </a:prstGeom>
          <a:noFill/>
        </p:spPr>
        <p:txBody>
          <a:bodyPr wrap="square" lIns="254" tIns="254" rIns="254" bIns="254" rtlCol="0" anchor="t">
            <a:normAutofit/>
          </a:bodyPr>
          <a:lstStyle/>
          <a:p>
            <a:pPr marL="0" indent="0" algn="l">
              <a:buNone/>
            </a:pPr>
            <a:r>
              <a:rPr lang="en-US" sz="78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样本/缺失/越界</a:t>
            </a:r>
            <a:endParaRPr lang="en-US" sz="780" dirty="0"/>
          </a:p>
        </p:txBody>
      </p:sp>
      <p:sp>
        <p:nvSpPr>
          <p:cNvPr id="24" name="Shape 22"/>
          <p:cNvSpPr/>
          <p:nvPr/>
        </p:nvSpPr>
        <p:spPr>
          <a:xfrm>
            <a:off x="4343400" y="1399032"/>
            <a:ext cx="228600" cy="128016"/>
          </a:xfrm>
          <a:prstGeom prst="rightArrow">
            <a:avLst>
              <a:gd name="adj1" fmla="val 50000"/>
              <a:gd name="adj2" fmla="val 50000"/>
            </a:avLst>
          </a:prstGeom>
          <a:solidFill>
            <a:srgbClr val="264653"/>
          </a:solidFill>
          <a:ln w="12700">
            <a:solidFill>
              <a:srgbClr val="264653"/>
            </a:solidFill>
            <a:prstDash val="solid"/>
          </a:ln>
        </p:spPr>
      </p:sp>
      <p:sp>
        <p:nvSpPr>
          <p:cNvPr id="25" name="Shape 23"/>
          <p:cNvSpPr/>
          <p:nvPr/>
        </p:nvSpPr>
        <p:spPr>
          <a:xfrm>
            <a:off x="4636008" y="1024128"/>
            <a:ext cx="1097280" cy="914400"/>
          </a:xfrm>
          <a:prstGeom prst="roundRect">
            <a:avLst>
              <a:gd name="adj" fmla="val 9000"/>
            </a:avLst>
          </a:prstGeom>
          <a:solidFill>
            <a:srgbClr val="E8F6F1"/>
          </a:solidFill>
          <a:ln w="10160">
            <a:solidFill>
              <a:srgbClr val="2A9D8F"/>
            </a:solidFill>
            <a:prstDash val="solid"/>
          </a:ln>
        </p:spPr>
      </p:sp>
      <p:sp>
        <p:nvSpPr>
          <p:cNvPr id="26" name="Shape 24"/>
          <p:cNvSpPr/>
          <p:nvPr/>
        </p:nvSpPr>
        <p:spPr>
          <a:xfrm>
            <a:off x="4745736" y="1152144"/>
            <a:ext cx="256032" cy="256032"/>
          </a:xfrm>
          <a:prstGeom prst="ellipse">
            <a:avLst/>
          </a:prstGeom>
          <a:solidFill>
            <a:srgbClr val="2A9D8F"/>
          </a:solidFill>
          <a:ln w="12700">
            <a:solidFill>
              <a:srgbClr val="2A9D8F"/>
            </a:solidFill>
            <a:prstDash val="solid"/>
          </a:ln>
        </p:spPr>
      </p:sp>
      <p:sp>
        <p:nvSpPr>
          <p:cNvPr id="27" name="Text 25"/>
          <p:cNvSpPr/>
          <p:nvPr/>
        </p:nvSpPr>
        <p:spPr>
          <a:xfrm>
            <a:off x="4745736" y="1202436"/>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800" dirty="0"/>
          </a:p>
        </p:txBody>
      </p:sp>
      <p:sp>
        <p:nvSpPr>
          <p:cNvPr id="28" name="Text 26"/>
          <p:cNvSpPr/>
          <p:nvPr/>
        </p:nvSpPr>
        <p:spPr>
          <a:xfrm>
            <a:off x="5056505" y="1143000"/>
            <a:ext cx="688340" cy="219710"/>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特征工程</a:t>
            </a:r>
            <a:endParaRPr lang="en-US" sz="1120" dirty="0"/>
          </a:p>
        </p:txBody>
      </p:sp>
      <p:sp>
        <p:nvSpPr>
          <p:cNvPr id="29" name="Text 27"/>
          <p:cNvSpPr/>
          <p:nvPr/>
        </p:nvSpPr>
        <p:spPr>
          <a:xfrm>
            <a:off x="4745736" y="1417320"/>
            <a:ext cx="877824" cy="475488"/>
          </a:xfrm>
          <a:prstGeom prst="rect">
            <a:avLst/>
          </a:prstGeom>
          <a:noFill/>
        </p:spPr>
        <p:txBody>
          <a:bodyPr wrap="square" lIns="254" tIns="254" rIns="254" bIns="254" rtlCol="0" anchor="t">
            <a:normAutofit/>
          </a:bodyPr>
          <a:lstStyle/>
          <a:p>
            <a:pPr marL="0" indent="0" algn="l">
              <a:buNone/>
            </a:pPr>
            <a:r>
              <a:rPr lang="en-US" sz="78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One-Hot + 填补</a:t>
            </a:r>
            <a:endParaRPr lang="en-US" sz="780" dirty="0"/>
          </a:p>
        </p:txBody>
      </p:sp>
      <p:sp>
        <p:nvSpPr>
          <p:cNvPr id="30" name="Shape 28"/>
          <p:cNvSpPr/>
          <p:nvPr/>
        </p:nvSpPr>
        <p:spPr>
          <a:xfrm>
            <a:off x="5760720" y="1399032"/>
            <a:ext cx="228600" cy="128016"/>
          </a:xfrm>
          <a:prstGeom prst="rightArrow">
            <a:avLst>
              <a:gd name="adj1" fmla="val 50000"/>
              <a:gd name="adj2" fmla="val 50000"/>
            </a:avLst>
          </a:prstGeom>
          <a:solidFill>
            <a:srgbClr val="264653"/>
          </a:solidFill>
          <a:ln w="12700">
            <a:solidFill>
              <a:srgbClr val="264653"/>
            </a:solidFill>
            <a:prstDash val="solid"/>
          </a:ln>
        </p:spPr>
      </p:sp>
      <p:sp>
        <p:nvSpPr>
          <p:cNvPr id="31" name="Shape 29"/>
          <p:cNvSpPr/>
          <p:nvPr/>
        </p:nvSpPr>
        <p:spPr>
          <a:xfrm>
            <a:off x="6053328" y="1024128"/>
            <a:ext cx="1097280" cy="914400"/>
          </a:xfrm>
          <a:prstGeom prst="roundRect">
            <a:avLst>
              <a:gd name="adj" fmla="val 9000"/>
            </a:avLst>
          </a:prstGeom>
          <a:solidFill>
            <a:srgbClr val="FCEDE9"/>
          </a:solidFill>
          <a:ln w="10160">
            <a:solidFill>
              <a:srgbClr val="E76F51"/>
            </a:solidFill>
            <a:prstDash val="solid"/>
          </a:ln>
        </p:spPr>
      </p:sp>
      <p:sp>
        <p:nvSpPr>
          <p:cNvPr id="32" name="Shape 30"/>
          <p:cNvSpPr/>
          <p:nvPr/>
        </p:nvSpPr>
        <p:spPr>
          <a:xfrm>
            <a:off x="6163056" y="1152144"/>
            <a:ext cx="256032" cy="256032"/>
          </a:xfrm>
          <a:prstGeom prst="ellipse">
            <a:avLst/>
          </a:prstGeom>
          <a:solidFill>
            <a:srgbClr val="E76F51"/>
          </a:solidFill>
          <a:ln w="12700">
            <a:solidFill>
              <a:srgbClr val="E76F51"/>
            </a:solidFill>
            <a:prstDash val="solid"/>
          </a:ln>
        </p:spPr>
      </p:sp>
      <p:sp>
        <p:nvSpPr>
          <p:cNvPr id="33" name="Text 31"/>
          <p:cNvSpPr/>
          <p:nvPr/>
        </p:nvSpPr>
        <p:spPr>
          <a:xfrm>
            <a:off x="6163056" y="1202436"/>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800" dirty="0"/>
          </a:p>
        </p:txBody>
      </p:sp>
      <p:sp>
        <p:nvSpPr>
          <p:cNvPr id="34" name="Text 32"/>
          <p:cNvSpPr/>
          <p:nvPr/>
        </p:nvSpPr>
        <p:spPr>
          <a:xfrm>
            <a:off x="6473825" y="1143000"/>
            <a:ext cx="655320" cy="219710"/>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随机森林</a:t>
            </a:r>
            <a:endParaRPr lang="en-US" sz="1120" dirty="0"/>
          </a:p>
        </p:txBody>
      </p:sp>
      <p:sp>
        <p:nvSpPr>
          <p:cNvPr id="35" name="Text 33"/>
          <p:cNvSpPr/>
          <p:nvPr/>
        </p:nvSpPr>
        <p:spPr>
          <a:xfrm>
            <a:off x="6163056" y="1417320"/>
            <a:ext cx="877824" cy="475488"/>
          </a:xfrm>
          <a:prstGeom prst="rect">
            <a:avLst/>
          </a:prstGeom>
          <a:noFill/>
        </p:spPr>
        <p:txBody>
          <a:bodyPr wrap="square" lIns="254" tIns="254" rIns="254" bIns="254" rtlCol="0" anchor="t">
            <a:normAutofit/>
          </a:bodyPr>
          <a:lstStyle/>
          <a:p>
            <a:pPr marL="0" indent="0" algn="l">
              <a:buNone/>
            </a:pPr>
            <a:r>
              <a:rPr lang="en-US" sz="78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低/中/高三分类</a:t>
            </a:r>
            <a:endParaRPr lang="en-US" sz="780" dirty="0"/>
          </a:p>
        </p:txBody>
      </p:sp>
      <p:sp>
        <p:nvSpPr>
          <p:cNvPr id="36" name="Shape 34"/>
          <p:cNvSpPr/>
          <p:nvPr/>
        </p:nvSpPr>
        <p:spPr>
          <a:xfrm>
            <a:off x="7178040" y="1399032"/>
            <a:ext cx="228600" cy="128016"/>
          </a:xfrm>
          <a:prstGeom prst="rightArrow">
            <a:avLst>
              <a:gd name="adj1" fmla="val 50000"/>
              <a:gd name="adj2" fmla="val 50000"/>
            </a:avLst>
          </a:prstGeom>
          <a:solidFill>
            <a:srgbClr val="264653"/>
          </a:solidFill>
          <a:ln w="12700">
            <a:solidFill>
              <a:srgbClr val="264653"/>
            </a:solidFill>
            <a:prstDash val="solid"/>
          </a:ln>
        </p:spPr>
      </p:sp>
      <p:sp>
        <p:nvSpPr>
          <p:cNvPr id="37" name="Shape 35"/>
          <p:cNvSpPr/>
          <p:nvPr/>
        </p:nvSpPr>
        <p:spPr>
          <a:xfrm>
            <a:off x="7470648" y="1024128"/>
            <a:ext cx="1097280" cy="914400"/>
          </a:xfrm>
          <a:prstGeom prst="roundRect">
            <a:avLst>
              <a:gd name="adj" fmla="val 9000"/>
            </a:avLst>
          </a:prstGeom>
          <a:solidFill>
            <a:srgbClr val="FCEDE9"/>
          </a:solidFill>
          <a:ln w="10160">
            <a:solidFill>
              <a:srgbClr val="E76F51"/>
            </a:solidFill>
            <a:prstDash val="solid"/>
          </a:ln>
        </p:spPr>
      </p:sp>
      <p:sp>
        <p:nvSpPr>
          <p:cNvPr id="38" name="Shape 36"/>
          <p:cNvSpPr/>
          <p:nvPr/>
        </p:nvSpPr>
        <p:spPr>
          <a:xfrm>
            <a:off x="7580376" y="1152144"/>
            <a:ext cx="256032" cy="256032"/>
          </a:xfrm>
          <a:prstGeom prst="ellipse">
            <a:avLst/>
          </a:prstGeom>
          <a:solidFill>
            <a:srgbClr val="E76F51"/>
          </a:solidFill>
          <a:ln w="12700">
            <a:solidFill>
              <a:srgbClr val="E76F51"/>
            </a:solidFill>
            <a:prstDash val="solid"/>
          </a:ln>
        </p:spPr>
      </p:sp>
      <p:sp>
        <p:nvSpPr>
          <p:cNvPr id="39" name="Text 37"/>
          <p:cNvSpPr/>
          <p:nvPr/>
        </p:nvSpPr>
        <p:spPr>
          <a:xfrm>
            <a:off x="7580376" y="1202436"/>
            <a:ext cx="256032" cy="109728"/>
          </a:xfrm>
          <a:prstGeom prst="rect">
            <a:avLst/>
          </a:prstGeom>
          <a:noFill/>
        </p:spPr>
        <p:txBody>
          <a:bodyPr wrap="square" lIns="0" tIns="0" rIns="0" bIns="0" rtlCol="0" anchor="t">
            <a:normAutofit/>
          </a:bodyPr>
          <a:lstStyle/>
          <a:p>
            <a:pPr marL="0" indent="0" algn="ctr">
              <a:buNone/>
            </a:pPr>
            <a:r>
              <a:rPr lang="en-US" sz="8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800" dirty="0"/>
          </a:p>
        </p:txBody>
      </p:sp>
      <p:sp>
        <p:nvSpPr>
          <p:cNvPr id="40" name="Text 38"/>
          <p:cNvSpPr/>
          <p:nvPr/>
        </p:nvSpPr>
        <p:spPr>
          <a:xfrm>
            <a:off x="7891272" y="1143000"/>
            <a:ext cx="566928" cy="219456"/>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输出</a:t>
            </a:r>
            <a:endParaRPr lang="en-US" sz="1120" dirty="0"/>
          </a:p>
        </p:txBody>
      </p:sp>
      <p:sp>
        <p:nvSpPr>
          <p:cNvPr id="41" name="Text 39"/>
          <p:cNvSpPr/>
          <p:nvPr/>
        </p:nvSpPr>
        <p:spPr>
          <a:xfrm>
            <a:off x="7580376" y="1417320"/>
            <a:ext cx="877824" cy="475488"/>
          </a:xfrm>
          <a:prstGeom prst="rect">
            <a:avLst/>
          </a:prstGeom>
          <a:noFill/>
        </p:spPr>
        <p:txBody>
          <a:bodyPr wrap="square" lIns="254" tIns="254" rIns="254" bIns="254" rtlCol="0" anchor="t">
            <a:normAutofit/>
          </a:bodyPr>
          <a:lstStyle/>
          <a:p>
            <a:pPr marL="0" indent="0" algn="l">
              <a:buNone/>
            </a:pPr>
            <a:r>
              <a:rPr lang="en-US" sz="78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指标/混淆矩阵/重要性</a:t>
            </a:r>
            <a:endParaRPr lang="en-US" sz="780" dirty="0"/>
          </a:p>
        </p:txBody>
      </p:sp>
      <p:sp>
        <p:nvSpPr>
          <p:cNvPr id="42" name="Shape 40"/>
          <p:cNvSpPr/>
          <p:nvPr/>
        </p:nvSpPr>
        <p:spPr>
          <a:xfrm>
            <a:off x="713232" y="2816352"/>
            <a:ext cx="3566160" cy="1051560"/>
          </a:xfrm>
          <a:prstGeom prst="roundRect">
            <a:avLst>
              <a:gd name="adj" fmla="val 8696"/>
            </a:avLst>
          </a:prstGeom>
          <a:solidFill>
            <a:srgbClr val="FFFFFF"/>
          </a:solidFill>
          <a:ln w="10160">
            <a:solidFill>
              <a:srgbClr val="D9E4EA"/>
            </a:solidFill>
            <a:prstDash val="solid"/>
          </a:ln>
        </p:spPr>
      </p:sp>
      <p:sp>
        <p:nvSpPr>
          <p:cNvPr id="43" name="Text 41"/>
          <p:cNvSpPr/>
          <p:nvPr/>
        </p:nvSpPr>
        <p:spPr>
          <a:xfrm>
            <a:off x="877824" y="2953512"/>
            <a:ext cx="323697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标签转换</a:t>
            </a:r>
            <a:endParaRPr lang="en-US" sz="1400" dirty="0"/>
          </a:p>
        </p:txBody>
      </p:sp>
      <p:sp>
        <p:nvSpPr>
          <p:cNvPr id="44" name="Text 42"/>
          <p:cNvSpPr/>
          <p:nvPr/>
        </p:nvSpPr>
        <p:spPr>
          <a:xfrm>
            <a:off x="877824" y="3291840"/>
            <a:ext cx="3236976" cy="484632"/>
          </a:xfrm>
          <a:prstGeom prst="rect">
            <a:avLst/>
          </a:prstGeom>
          <a:noFill/>
        </p:spPr>
        <p:txBody>
          <a:bodyPr wrap="square" lIns="381" tIns="381" rIns="381" bIns="381" rtlCol="0" anchor="t">
            <a:normAutofit/>
          </a:bodyPr>
          <a:lstStyle/>
          <a:p>
            <a:pPr marL="0" indent="0" algn="l">
              <a:buNone/>
            </a:pPr>
            <a:r>
              <a:rPr lang="en-US" sz="12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efficiency_score：1-2 → low，3 → medium，4-5 → high</a:t>
            </a:r>
            <a:endParaRPr lang="en-US" sz="1200" dirty="0"/>
          </a:p>
        </p:txBody>
      </p:sp>
      <p:sp>
        <p:nvSpPr>
          <p:cNvPr id="45" name="Shape 43"/>
          <p:cNvSpPr/>
          <p:nvPr/>
        </p:nvSpPr>
        <p:spPr>
          <a:xfrm>
            <a:off x="4800600" y="2816352"/>
            <a:ext cx="3566160" cy="1051560"/>
          </a:xfrm>
          <a:prstGeom prst="roundRect">
            <a:avLst>
              <a:gd name="adj" fmla="val 8696"/>
            </a:avLst>
          </a:prstGeom>
          <a:solidFill>
            <a:srgbClr val="FFFFFF"/>
          </a:solidFill>
          <a:ln w="10160">
            <a:solidFill>
              <a:srgbClr val="D9E4EA"/>
            </a:solidFill>
            <a:prstDash val="solid"/>
          </a:ln>
        </p:spPr>
      </p:sp>
      <p:sp>
        <p:nvSpPr>
          <p:cNvPr id="46" name="Text 44"/>
          <p:cNvSpPr/>
          <p:nvPr/>
        </p:nvSpPr>
        <p:spPr>
          <a:xfrm>
            <a:off x="4965192" y="2953512"/>
            <a:ext cx="323697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缺失处理</a:t>
            </a:r>
            <a:endParaRPr lang="en-US" sz="1400" dirty="0"/>
          </a:p>
        </p:txBody>
      </p:sp>
      <p:sp>
        <p:nvSpPr>
          <p:cNvPr id="47" name="Text 45"/>
          <p:cNvSpPr/>
          <p:nvPr/>
        </p:nvSpPr>
        <p:spPr>
          <a:xfrm>
            <a:off x="4965192" y="3291840"/>
            <a:ext cx="3236976" cy="484632"/>
          </a:xfrm>
          <a:prstGeom prst="rect">
            <a:avLst/>
          </a:prstGeom>
          <a:noFill/>
        </p:spPr>
        <p:txBody>
          <a:bodyPr wrap="square" lIns="381" tIns="381" rIns="381" bIns="381" rtlCol="0" anchor="t">
            <a:normAutofit/>
          </a:bodyPr>
          <a:lstStyle/>
          <a:p>
            <a:pPr marL="0" indent="0" algn="l">
              <a:buNone/>
            </a:pPr>
            <a:r>
              <a:rPr lang="en-US" sz="120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无运动数据时保留样本，运动字段填 0，并增加 motion_available。</a:t>
            </a:r>
            <a:endParaRPr lang="en-US" sz="1200" dirty="0"/>
          </a:p>
        </p:txBody>
      </p:sp>
      <p:sp>
        <p:nvSpPr>
          <p:cNvPr id="48" name="Text 46"/>
          <p:cNvSpPr/>
          <p:nvPr/>
        </p:nvSpPr>
        <p:spPr>
          <a:xfrm>
            <a:off x="914400" y="4370832"/>
            <a:ext cx="7315200" cy="164592"/>
          </a:xfrm>
          <a:prstGeom prst="rect">
            <a:avLst/>
          </a:prstGeom>
          <a:noFill/>
        </p:spPr>
        <p:txBody>
          <a:bodyPr wrap="square" lIns="254" tIns="254" rIns="254" bIns="254" rtlCol="0" anchor="t">
            <a:normAutofit/>
          </a:bodyPr>
          <a:lstStyle/>
          <a:p>
            <a:pPr marL="0" indent="0" algn="ctr">
              <a:buNone/>
            </a:pPr>
            <a:r>
              <a:rPr lang="en-US" sz="85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模型用于课程演示链路验证；真实样本不足时不包装成泛化结论。</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BFB"/>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数据来源与实验口径</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实验口径</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07</a:t>
            </a:r>
            <a:endParaRPr lang="en-US" sz="1000" dirty="0"/>
          </a:p>
        </p:txBody>
      </p:sp>
      <p:sp>
        <p:nvSpPr>
          <p:cNvPr id="7" name="Shape 5"/>
          <p:cNvSpPr/>
          <p:nvPr/>
        </p:nvSpPr>
        <p:spPr>
          <a:xfrm>
            <a:off x="713232" y="960120"/>
            <a:ext cx="1847088" cy="1234440"/>
          </a:xfrm>
          <a:prstGeom prst="roundRect">
            <a:avLst>
              <a:gd name="adj" fmla="val 8889"/>
            </a:avLst>
          </a:prstGeom>
          <a:solidFill>
            <a:srgbClr val="FFFFFF"/>
          </a:solidFill>
          <a:ln w="10160">
            <a:solidFill>
              <a:srgbClr val="2A9D8F"/>
            </a:solidFill>
            <a:prstDash val="solid"/>
          </a:ln>
        </p:spPr>
      </p:sp>
      <p:sp>
        <p:nvSpPr>
          <p:cNvPr id="8" name="Text 6"/>
          <p:cNvSpPr/>
          <p:nvPr/>
        </p:nvSpPr>
        <p:spPr>
          <a:xfrm>
            <a:off x="877824" y="1124712"/>
            <a:ext cx="1517904" cy="555498"/>
          </a:xfrm>
          <a:prstGeom prst="rect">
            <a:avLst/>
          </a:prstGeom>
          <a:noFill/>
        </p:spPr>
        <p:txBody>
          <a:bodyPr wrap="square" lIns="0" tIns="0" rIns="0" bIns="0" rtlCol="0" anchor="t">
            <a:normAutofit/>
          </a:bodyPr>
          <a:lstStyle/>
          <a:p>
            <a:pPr marL="0" indent="0" algn="ctr">
              <a:buNone/>
            </a:pPr>
            <a:r>
              <a:rPr lang="en-US" sz="3400" b="1" dirty="0">
                <a:solidFill>
                  <a:srgbClr val="2A9D8F"/>
                </a:solidFill>
                <a:latin typeface="Arial" panose="020B0604020202020204" pitchFamily="34" charset="0"/>
                <a:ea typeface="Arial" panose="020B0604020202020204" pitchFamily="34" charset="-122"/>
                <a:cs typeface="Arial" panose="020B0604020202020204" pitchFamily="34" charset="-120"/>
              </a:rPr>
              <a:t>17</a:t>
            </a:r>
            <a:endParaRPr lang="en-US" sz="3400" dirty="0"/>
          </a:p>
        </p:txBody>
      </p:sp>
      <p:sp>
        <p:nvSpPr>
          <p:cNvPr id="9" name="Text 7"/>
          <p:cNvSpPr/>
          <p:nvPr/>
        </p:nvSpPr>
        <p:spPr>
          <a:xfrm>
            <a:off x="877824" y="1810512"/>
            <a:ext cx="1517904" cy="228600"/>
          </a:xfrm>
          <a:prstGeom prst="rect">
            <a:avLst/>
          </a:prstGeom>
          <a:noFill/>
        </p:spPr>
        <p:txBody>
          <a:bodyPr wrap="square" lIns="0" tIns="0" rIns="0" bIns="0" rtlCol="0" anchor="t">
            <a:normAutofit/>
          </a:bodyPr>
          <a:lstStyle/>
          <a:p>
            <a:pPr marL="0" indent="0" algn="ctr">
              <a:buNone/>
            </a:pPr>
            <a:r>
              <a:rPr lang="en-US" sz="95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真实 completed 记录</a:t>
            </a:r>
            <a:endParaRPr lang="en-US" sz="950" dirty="0"/>
          </a:p>
        </p:txBody>
      </p:sp>
      <p:sp>
        <p:nvSpPr>
          <p:cNvPr id="10" name="Shape 8"/>
          <p:cNvSpPr/>
          <p:nvPr/>
        </p:nvSpPr>
        <p:spPr>
          <a:xfrm>
            <a:off x="2761488" y="960120"/>
            <a:ext cx="1847088" cy="1234440"/>
          </a:xfrm>
          <a:prstGeom prst="roundRect">
            <a:avLst>
              <a:gd name="adj" fmla="val 8889"/>
            </a:avLst>
          </a:prstGeom>
          <a:solidFill>
            <a:srgbClr val="FCEDE9"/>
          </a:solidFill>
          <a:ln w="10160">
            <a:solidFill>
              <a:srgbClr val="E76F51"/>
            </a:solidFill>
            <a:prstDash val="solid"/>
          </a:ln>
        </p:spPr>
      </p:sp>
      <p:sp>
        <p:nvSpPr>
          <p:cNvPr id="11" name="Text 9"/>
          <p:cNvSpPr/>
          <p:nvPr/>
        </p:nvSpPr>
        <p:spPr>
          <a:xfrm>
            <a:off x="2926080" y="1124712"/>
            <a:ext cx="1517904" cy="555498"/>
          </a:xfrm>
          <a:prstGeom prst="rect">
            <a:avLst/>
          </a:prstGeom>
          <a:noFill/>
        </p:spPr>
        <p:txBody>
          <a:bodyPr wrap="square" lIns="0" tIns="0" rIns="0" bIns="0" rtlCol="0" anchor="t">
            <a:normAutofit/>
          </a:bodyPr>
          <a:lstStyle/>
          <a:p>
            <a:pPr marL="0" indent="0" algn="ctr">
              <a:buNone/>
            </a:pPr>
            <a:r>
              <a:rPr lang="en-US" sz="3400" b="1" dirty="0">
                <a:solidFill>
                  <a:srgbClr val="E76F51"/>
                </a:solidFill>
                <a:latin typeface="Arial" panose="020B0604020202020204" pitchFamily="34" charset="0"/>
                <a:ea typeface="Arial" panose="020B0604020202020204" pitchFamily="34" charset="-122"/>
                <a:cs typeface="Arial" panose="020B0604020202020204" pitchFamily="34" charset="-120"/>
              </a:rPr>
              <a:t>11</a:t>
            </a:r>
            <a:endParaRPr lang="en-US" sz="3400" dirty="0"/>
          </a:p>
        </p:txBody>
      </p:sp>
      <p:sp>
        <p:nvSpPr>
          <p:cNvPr id="12" name="Text 10"/>
          <p:cNvSpPr/>
          <p:nvPr/>
        </p:nvSpPr>
        <p:spPr>
          <a:xfrm>
            <a:off x="2926080" y="1810512"/>
            <a:ext cx="1517904" cy="228600"/>
          </a:xfrm>
          <a:prstGeom prst="rect">
            <a:avLst/>
          </a:prstGeom>
          <a:noFill/>
        </p:spPr>
        <p:txBody>
          <a:bodyPr wrap="square" lIns="0" tIns="0" rIns="0" bIns="0" rtlCol="0" anchor="t">
            <a:normAutofit/>
          </a:bodyPr>
          <a:lstStyle/>
          <a:p>
            <a:pPr marL="0" indent="0" algn="ctr">
              <a:buNone/>
            </a:pPr>
            <a:r>
              <a:rPr lang="en-US" sz="95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运动特征缺失记录</a:t>
            </a:r>
            <a:endParaRPr lang="en-US" sz="950" dirty="0"/>
          </a:p>
        </p:txBody>
      </p:sp>
      <p:sp>
        <p:nvSpPr>
          <p:cNvPr id="13" name="Shape 11"/>
          <p:cNvSpPr/>
          <p:nvPr/>
        </p:nvSpPr>
        <p:spPr>
          <a:xfrm>
            <a:off x="4809744" y="960120"/>
            <a:ext cx="1847088" cy="1234440"/>
          </a:xfrm>
          <a:prstGeom prst="roundRect">
            <a:avLst>
              <a:gd name="adj" fmla="val 8889"/>
            </a:avLst>
          </a:prstGeom>
          <a:solidFill>
            <a:srgbClr val="FFF4D6"/>
          </a:solidFill>
          <a:ln w="10160">
            <a:solidFill>
              <a:srgbClr val="E9C46A"/>
            </a:solidFill>
            <a:prstDash val="solid"/>
          </a:ln>
        </p:spPr>
      </p:sp>
      <p:sp>
        <p:nvSpPr>
          <p:cNvPr id="14" name="Text 12"/>
          <p:cNvSpPr/>
          <p:nvPr/>
        </p:nvSpPr>
        <p:spPr>
          <a:xfrm>
            <a:off x="4974336" y="1124712"/>
            <a:ext cx="1517904" cy="555498"/>
          </a:xfrm>
          <a:prstGeom prst="rect">
            <a:avLst/>
          </a:prstGeom>
          <a:noFill/>
        </p:spPr>
        <p:txBody>
          <a:bodyPr wrap="square" lIns="0" tIns="0" rIns="0" bIns="0" rtlCol="0" anchor="t">
            <a:normAutofit/>
          </a:bodyPr>
          <a:lstStyle/>
          <a:p>
            <a:pPr marL="0" indent="0" algn="ctr">
              <a:buNone/>
            </a:pPr>
            <a:r>
              <a:rPr lang="en-US" sz="3400" b="1" dirty="0">
                <a:solidFill>
                  <a:srgbClr val="264653"/>
                </a:solidFill>
                <a:latin typeface="Arial" panose="020B0604020202020204" pitchFamily="34" charset="0"/>
                <a:ea typeface="Arial" panose="020B0604020202020204" pitchFamily="34" charset="-122"/>
                <a:cs typeface="Arial" panose="020B0604020202020204" pitchFamily="34" charset="-120"/>
              </a:rPr>
              <a:t>120</a:t>
            </a:r>
            <a:endParaRPr lang="en-US" sz="3400" dirty="0"/>
          </a:p>
        </p:txBody>
      </p:sp>
      <p:sp>
        <p:nvSpPr>
          <p:cNvPr id="15" name="Text 13"/>
          <p:cNvSpPr/>
          <p:nvPr/>
        </p:nvSpPr>
        <p:spPr>
          <a:xfrm>
            <a:off x="4974336" y="1810512"/>
            <a:ext cx="1517904" cy="228600"/>
          </a:xfrm>
          <a:prstGeom prst="rect">
            <a:avLst/>
          </a:prstGeom>
          <a:noFill/>
        </p:spPr>
        <p:txBody>
          <a:bodyPr wrap="square" lIns="0" tIns="0" rIns="0" bIns="0" rtlCol="0" anchor="t">
            <a:normAutofit/>
          </a:bodyPr>
          <a:lstStyle/>
          <a:p>
            <a:pPr marL="0" indent="0" algn="ctr">
              <a:buNone/>
            </a:pPr>
            <a:r>
              <a:rPr lang="en-US" sz="95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mock 训练/演示记录</a:t>
            </a:r>
            <a:endParaRPr lang="en-US" sz="950" dirty="0"/>
          </a:p>
        </p:txBody>
      </p:sp>
      <p:sp>
        <p:nvSpPr>
          <p:cNvPr id="16" name="Shape 14"/>
          <p:cNvSpPr/>
          <p:nvPr/>
        </p:nvSpPr>
        <p:spPr>
          <a:xfrm>
            <a:off x="6858000" y="960120"/>
            <a:ext cx="1572768" cy="1234440"/>
          </a:xfrm>
          <a:prstGeom prst="roundRect">
            <a:avLst>
              <a:gd name="adj" fmla="val 8889"/>
            </a:avLst>
          </a:prstGeom>
          <a:solidFill>
            <a:srgbClr val="FFFFFF"/>
          </a:solidFill>
          <a:ln w="10160">
            <a:solidFill>
              <a:srgbClr val="D9E4EA"/>
            </a:solidFill>
            <a:prstDash val="solid"/>
          </a:ln>
        </p:spPr>
      </p:sp>
      <p:sp>
        <p:nvSpPr>
          <p:cNvPr id="17" name="Text 15"/>
          <p:cNvSpPr/>
          <p:nvPr/>
        </p:nvSpPr>
        <p:spPr>
          <a:xfrm>
            <a:off x="7022592" y="1124712"/>
            <a:ext cx="1243584" cy="555498"/>
          </a:xfrm>
          <a:prstGeom prst="rect">
            <a:avLst/>
          </a:prstGeom>
          <a:noFill/>
        </p:spPr>
        <p:txBody>
          <a:bodyPr wrap="square" lIns="0" tIns="0" rIns="0" bIns="0" rtlCol="0" anchor="t">
            <a:normAutofit/>
          </a:bodyPr>
          <a:lstStyle/>
          <a:p>
            <a:pPr marL="0" indent="0" algn="ctr">
              <a:buNone/>
            </a:pPr>
            <a:r>
              <a:rPr lang="en-US" sz="2200" b="1" dirty="0">
                <a:solidFill>
                  <a:srgbClr val="264653"/>
                </a:solidFill>
                <a:latin typeface="Arial" panose="020B0604020202020204" pitchFamily="34" charset="0"/>
                <a:ea typeface="Arial" panose="020B0604020202020204" pitchFamily="34" charset="-122"/>
                <a:cs typeface="Arial" panose="020B0604020202020204" pitchFamily="34" charset="-120"/>
              </a:rPr>
              <a:t>40/40/40</a:t>
            </a:r>
            <a:endParaRPr lang="en-US" sz="2200" dirty="0"/>
          </a:p>
        </p:txBody>
      </p:sp>
      <p:sp>
        <p:nvSpPr>
          <p:cNvPr id="18" name="Text 16"/>
          <p:cNvSpPr/>
          <p:nvPr/>
        </p:nvSpPr>
        <p:spPr>
          <a:xfrm>
            <a:off x="7022592" y="1810512"/>
            <a:ext cx="1243584" cy="228600"/>
          </a:xfrm>
          <a:prstGeom prst="rect">
            <a:avLst/>
          </a:prstGeom>
          <a:noFill/>
        </p:spPr>
        <p:txBody>
          <a:bodyPr wrap="square" lIns="0" tIns="0" rIns="0" bIns="0" rtlCol="0" anchor="t">
            <a:normAutofit/>
          </a:bodyPr>
          <a:lstStyle/>
          <a:p>
            <a:pPr marL="0" indent="0" algn="ctr">
              <a:buNone/>
            </a:pPr>
            <a:r>
              <a:rPr lang="en-US" sz="95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mock 三类均衡</a:t>
            </a:r>
            <a:endParaRPr lang="en-US" sz="950" dirty="0"/>
          </a:p>
        </p:txBody>
      </p:sp>
      <p:sp>
        <p:nvSpPr>
          <p:cNvPr id="19" name="Shape 17"/>
          <p:cNvSpPr/>
          <p:nvPr/>
        </p:nvSpPr>
        <p:spPr>
          <a:xfrm>
            <a:off x="713232" y="2542032"/>
            <a:ext cx="3566160" cy="1152144"/>
          </a:xfrm>
          <a:prstGeom prst="roundRect">
            <a:avLst>
              <a:gd name="adj" fmla="val 7937"/>
            </a:avLst>
          </a:prstGeom>
          <a:solidFill>
            <a:srgbClr val="FFFFFF"/>
          </a:solidFill>
          <a:ln w="10160">
            <a:solidFill>
              <a:srgbClr val="2A9D8F"/>
            </a:solidFill>
            <a:prstDash val="solid"/>
          </a:ln>
        </p:spPr>
      </p:sp>
      <p:sp>
        <p:nvSpPr>
          <p:cNvPr id="20" name="Text 18"/>
          <p:cNvSpPr/>
          <p:nvPr/>
        </p:nvSpPr>
        <p:spPr>
          <a:xfrm>
            <a:off x="877824" y="2679192"/>
            <a:ext cx="323697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真实数据用途</a:t>
            </a:r>
            <a:endParaRPr lang="en-US" sz="1400" dirty="0"/>
          </a:p>
        </p:txBody>
      </p:sp>
      <p:sp>
        <p:nvSpPr>
          <p:cNvPr id="21" name="Text 19"/>
          <p:cNvSpPr/>
          <p:nvPr/>
        </p:nvSpPr>
        <p:spPr>
          <a:xfrm>
            <a:off x="877824" y="3017520"/>
            <a:ext cx="3236976" cy="585216"/>
          </a:xfrm>
          <a:prstGeom prst="rect">
            <a:avLst/>
          </a:prstGeom>
          <a:noFill/>
        </p:spPr>
        <p:txBody>
          <a:bodyPr wrap="square" lIns="381" tIns="381" rIns="381" bIns="381" rtlCol="0" anchor="t">
            <a:normAutofit/>
          </a:bodyPr>
          <a:lstStyle/>
          <a:p>
            <a:pPr marL="0" indent="0" algn="l">
              <a:buNone/>
            </a:pPr>
            <a:r>
              <a:rPr lang="en-US" sz="11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说明系统已经支持真实采集与质量检查；由于样本少于 30 条，不作为正式训练结论。</a:t>
            </a:r>
            <a:endParaRPr lang="en-US" sz="1120" dirty="0"/>
          </a:p>
        </p:txBody>
      </p:sp>
      <p:sp>
        <p:nvSpPr>
          <p:cNvPr id="22" name="Shape 20"/>
          <p:cNvSpPr/>
          <p:nvPr/>
        </p:nvSpPr>
        <p:spPr>
          <a:xfrm>
            <a:off x="4800600" y="2542032"/>
            <a:ext cx="3566160" cy="1152144"/>
          </a:xfrm>
          <a:prstGeom prst="roundRect">
            <a:avLst>
              <a:gd name="adj" fmla="val 7937"/>
            </a:avLst>
          </a:prstGeom>
          <a:solidFill>
            <a:srgbClr val="FCEDE9"/>
          </a:solidFill>
          <a:ln w="10160">
            <a:solidFill>
              <a:srgbClr val="E76F51"/>
            </a:solidFill>
            <a:prstDash val="solid"/>
          </a:ln>
        </p:spPr>
      </p:sp>
      <p:sp>
        <p:nvSpPr>
          <p:cNvPr id="23" name="Text 21"/>
          <p:cNvSpPr/>
          <p:nvPr/>
        </p:nvSpPr>
        <p:spPr>
          <a:xfrm>
            <a:off x="4965192" y="2679192"/>
            <a:ext cx="323697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mock 数据用途</a:t>
            </a:r>
            <a:endParaRPr lang="en-US" sz="1400" dirty="0"/>
          </a:p>
        </p:txBody>
      </p:sp>
      <p:sp>
        <p:nvSpPr>
          <p:cNvPr id="24" name="Text 22"/>
          <p:cNvSpPr/>
          <p:nvPr/>
        </p:nvSpPr>
        <p:spPr>
          <a:xfrm>
            <a:off x="4965192" y="3017520"/>
            <a:ext cx="3236976" cy="585216"/>
          </a:xfrm>
          <a:prstGeom prst="rect">
            <a:avLst/>
          </a:prstGeom>
          <a:noFill/>
        </p:spPr>
        <p:txBody>
          <a:bodyPr wrap="square" lIns="381" tIns="381" rIns="381" bIns="381" rtlCol="0" anchor="t">
            <a:normAutofit/>
          </a:bodyPr>
          <a:lstStyle/>
          <a:p>
            <a:pPr marL="0" indent="0" algn="l">
              <a:buNone/>
            </a:pPr>
            <a:r>
              <a:rPr lang="en-US" sz="11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用于证明训练、预测、指标展示和看板流程可运行；不代表真实学习规律。</a:t>
            </a:r>
            <a:endParaRPr lang="en-US" sz="1120" dirty="0"/>
          </a:p>
        </p:txBody>
      </p:sp>
      <p:sp>
        <p:nvSpPr>
          <p:cNvPr id="25" name="Shape 23"/>
          <p:cNvSpPr/>
          <p:nvPr/>
        </p:nvSpPr>
        <p:spPr>
          <a:xfrm>
            <a:off x="1920240" y="4133088"/>
            <a:ext cx="5303520" cy="310896"/>
          </a:xfrm>
          <a:prstGeom prst="roundRect">
            <a:avLst>
              <a:gd name="adj" fmla="val 47059"/>
            </a:avLst>
          </a:prstGeom>
          <a:solidFill>
            <a:srgbClr val="122A36"/>
          </a:solidFill>
          <a:ln w="10160">
            <a:solidFill>
              <a:srgbClr val="122A36"/>
            </a:solidFill>
            <a:prstDash val="solid"/>
          </a:ln>
        </p:spPr>
      </p:sp>
      <p:sp>
        <p:nvSpPr>
          <p:cNvPr id="26" name="Text 24"/>
          <p:cNvSpPr/>
          <p:nvPr/>
        </p:nvSpPr>
        <p:spPr>
          <a:xfrm>
            <a:off x="1920240" y="4183380"/>
            <a:ext cx="5303520" cy="256032"/>
          </a:xfrm>
          <a:prstGeom prst="rect">
            <a:avLst/>
          </a:prstGeom>
          <a:noFill/>
        </p:spPr>
        <p:txBody>
          <a:bodyPr wrap="square" lIns="0" tIns="0" rIns="0" bIns="0" rtlCol="0" anchor="t">
            <a:normAutofit/>
          </a:bodyPr>
          <a:lstStyle/>
          <a:p>
            <a:pPr marL="0" indent="0" algn="ctr">
              <a:buNone/>
            </a:pPr>
            <a:r>
              <a:rPr lang="en-US" sz="102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结论边界：演示链路成立，不声称模型已经具有真实场景泛化能力</a:t>
            </a:r>
            <a:endParaRPr lang="en-US" sz="10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系统界面与看板结果</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界面展示</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08</a:t>
            </a:r>
            <a:endParaRPr lang="en-US" sz="1000" dirty="0"/>
          </a:p>
        </p:txBody>
      </p:sp>
      <p:sp>
        <p:nvSpPr>
          <p:cNvPr id="7" name="Shape 5"/>
          <p:cNvSpPr/>
          <p:nvPr/>
        </p:nvSpPr>
        <p:spPr>
          <a:xfrm>
            <a:off x="1024128" y="841248"/>
            <a:ext cx="7059168" cy="4169664"/>
          </a:xfrm>
          <a:prstGeom prst="roundRect">
            <a:avLst>
              <a:gd name="adj" fmla="val 2193"/>
            </a:avLst>
          </a:prstGeom>
          <a:solidFill>
            <a:srgbClr val="FFFFFF"/>
          </a:solidFill>
          <a:ln w="10160">
            <a:solidFill>
              <a:srgbClr val="D9E4EA"/>
            </a:solidFill>
            <a:prstDash val="solid"/>
          </a:ln>
        </p:spPr>
      </p:sp>
      <p:pic>
        <p:nvPicPr>
          <p:cNvPr id="8" name="Image 0" descr="/home/win/Project/Study-efficiency/deliverables/figures/fig4-ui-collage.png"/>
          <p:cNvPicPr>
            <a:picLocks noChangeAspect="1"/>
          </p:cNvPicPr>
          <p:nvPr/>
        </p:nvPicPr>
        <p:blipFill>
          <a:blip r:embed="rId1"/>
          <a:stretch>
            <a:fillRect/>
          </a:stretch>
        </p:blipFill>
        <p:spPr>
          <a:xfrm>
            <a:off x="1078992" y="914400"/>
            <a:ext cx="6949440" cy="4078224"/>
          </a:xfrm>
          <a:prstGeom prst="rect">
            <a:avLst/>
          </a:prstGeom>
        </p:spPr>
      </p:pic>
      <p:sp>
        <p:nvSpPr>
          <p:cNvPr id="9" name="Text 6"/>
          <p:cNvSpPr/>
          <p:nvPr/>
        </p:nvSpPr>
        <p:spPr>
          <a:xfrm>
            <a:off x="1051560" y="4800600"/>
            <a:ext cx="6995160" cy="164592"/>
          </a:xfrm>
          <a:prstGeom prst="rect">
            <a:avLst/>
          </a:prstGeom>
          <a:noFill/>
        </p:spPr>
        <p:txBody>
          <a:bodyPr wrap="square" lIns="254" tIns="254" rIns="254" bIns="254" rtlCol="0" anchor="t">
            <a:normAutofit/>
          </a:bodyPr>
          <a:lstStyle/>
          <a:p>
            <a:pPr marL="0" indent="0" algn="ctr">
              <a:buNone/>
            </a:pPr>
            <a:r>
              <a:rPr lang="en-US" sz="85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BFB"/>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模型指标与特征重要性</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结果展示</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09</a:t>
            </a:r>
            <a:endParaRPr lang="en-US" sz="1000" dirty="0"/>
          </a:p>
        </p:txBody>
      </p:sp>
      <p:sp>
        <p:nvSpPr>
          <p:cNvPr id="7" name="Shape 5"/>
          <p:cNvSpPr/>
          <p:nvPr/>
        </p:nvSpPr>
        <p:spPr>
          <a:xfrm>
            <a:off x="566928" y="960120"/>
            <a:ext cx="4069080" cy="3063240"/>
          </a:xfrm>
          <a:prstGeom prst="roundRect">
            <a:avLst>
              <a:gd name="adj" fmla="val 2985"/>
            </a:avLst>
          </a:prstGeom>
          <a:solidFill>
            <a:srgbClr val="FFFFFF"/>
          </a:solidFill>
          <a:ln w="10160">
            <a:solidFill>
              <a:srgbClr val="D9E4EA"/>
            </a:solidFill>
            <a:prstDash val="solid"/>
          </a:ln>
        </p:spPr>
      </p:sp>
      <p:sp>
        <p:nvSpPr>
          <p:cNvPr id="8" name="Text 6"/>
          <p:cNvSpPr/>
          <p:nvPr/>
        </p:nvSpPr>
        <p:spPr>
          <a:xfrm>
            <a:off x="822960" y="1143000"/>
            <a:ext cx="2103120"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mock 指标对比</a:t>
            </a:r>
            <a:endParaRPr lang="en-US" sz="1400" dirty="0"/>
          </a:p>
        </p:txBody>
      </p:sp>
      <p:sp>
        <p:nvSpPr>
          <p:cNvPr id="9" name="Text 7"/>
          <p:cNvSpPr/>
          <p:nvPr/>
        </p:nvSpPr>
        <p:spPr>
          <a:xfrm>
            <a:off x="822960" y="1609344"/>
            <a:ext cx="960120" cy="201168"/>
          </a:xfrm>
          <a:prstGeom prst="rect">
            <a:avLst/>
          </a:prstGeom>
          <a:noFill/>
        </p:spPr>
        <p:txBody>
          <a:bodyPr wrap="square" lIns="508" tIns="508" rIns="508" bIns="508" rtlCol="0" anchor="t">
            <a:normAutofit/>
          </a:bodyPr>
          <a:lstStyle/>
          <a:p>
            <a:pPr marL="0" indent="0" algn="l">
              <a:buNone/>
            </a:pPr>
            <a:r>
              <a:rPr lang="en-US" sz="1050" b="1" dirty="0">
                <a:solidFill>
                  <a:srgbClr val="172033"/>
                </a:solidFill>
                <a:latin typeface="Arial" panose="020B0604020202020204" pitchFamily="34" charset="0"/>
                <a:ea typeface="Arial" panose="020B0604020202020204" pitchFamily="34" charset="-122"/>
                <a:cs typeface="Arial" panose="020B0604020202020204" pitchFamily="34" charset="-120"/>
              </a:rPr>
              <a:t>Accuracy</a:t>
            </a:r>
            <a:endParaRPr lang="en-US" sz="1050" dirty="0"/>
          </a:p>
        </p:txBody>
      </p:sp>
      <p:sp>
        <p:nvSpPr>
          <p:cNvPr id="10" name="Shape 8"/>
          <p:cNvSpPr/>
          <p:nvPr/>
        </p:nvSpPr>
        <p:spPr>
          <a:xfrm>
            <a:off x="1874520" y="1645920"/>
            <a:ext cx="1920240" cy="109728"/>
          </a:xfrm>
          <a:prstGeom prst="rect">
            <a:avLst/>
          </a:prstGeom>
          <a:solidFill>
            <a:srgbClr val="E8F6F1"/>
          </a:solidFill>
          <a:ln w="6350">
            <a:solidFill>
              <a:srgbClr val="E8F6F1"/>
            </a:solidFill>
            <a:prstDash val="solid"/>
          </a:ln>
        </p:spPr>
      </p:sp>
      <p:sp>
        <p:nvSpPr>
          <p:cNvPr id="11" name="Shape 9"/>
          <p:cNvSpPr/>
          <p:nvPr/>
        </p:nvSpPr>
        <p:spPr>
          <a:xfrm>
            <a:off x="1874520" y="1645920"/>
            <a:ext cx="1920240" cy="109728"/>
          </a:xfrm>
          <a:prstGeom prst="rect">
            <a:avLst/>
          </a:prstGeom>
          <a:solidFill>
            <a:srgbClr val="2A9D8F"/>
          </a:solidFill>
          <a:ln w="6350">
            <a:solidFill>
              <a:srgbClr val="2A9D8F"/>
            </a:solidFill>
            <a:prstDash val="solid"/>
          </a:ln>
        </p:spPr>
      </p:sp>
      <p:sp>
        <p:nvSpPr>
          <p:cNvPr id="12" name="Text 10"/>
          <p:cNvSpPr/>
          <p:nvPr/>
        </p:nvSpPr>
        <p:spPr>
          <a:xfrm>
            <a:off x="3886200" y="1595628"/>
            <a:ext cx="530352" cy="164592"/>
          </a:xfrm>
          <a:prstGeom prst="rect">
            <a:avLst/>
          </a:prstGeom>
          <a:noFill/>
        </p:spPr>
        <p:txBody>
          <a:bodyPr wrap="square" lIns="0" tIns="0" rIns="0" bIns="0" rtlCol="0" anchor="t">
            <a:normAutofit/>
          </a:bodyPr>
          <a:lstStyle/>
          <a:p>
            <a:pPr marL="0" indent="0" algn="r">
              <a:buNone/>
            </a:pPr>
            <a:r>
              <a:rPr lang="en-US" sz="850" dirty="0">
                <a:solidFill>
                  <a:srgbClr val="657287"/>
                </a:solidFill>
                <a:latin typeface="Arial" panose="020B0604020202020204" pitchFamily="34" charset="0"/>
                <a:ea typeface="Arial" panose="020B0604020202020204" pitchFamily="34" charset="-122"/>
                <a:cs typeface="Arial" panose="020B0604020202020204" pitchFamily="34" charset="-120"/>
              </a:rPr>
              <a:t>1.000 / 0.333</a:t>
            </a:r>
            <a:endParaRPr lang="en-US" sz="850" dirty="0"/>
          </a:p>
        </p:txBody>
      </p:sp>
      <p:sp>
        <p:nvSpPr>
          <p:cNvPr id="13" name="Text 11"/>
          <p:cNvSpPr/>
          <p:nvPr/>
        </p:nvSpPr>
        <p:spPr>
          <a:xfrm>
            <a:off x="822960" y="2121408"/>
            <a:ext cx="960120" cy="201168"/>
          </a:xfrm>
          <a:prstGeom prst="rect">
            <a:avLst/>
          </a:prstGeom>
          <a:noFill/>
        </p:spPr>
        <p:txBody>
          <a:bodyPr wrap="square" lIns="508" tIns="508" rIns="508" bIns="508" rtlCol="0" anchor="t">
            <a:normAutofit/>
          </a:bodyPr>
          <a:lstStyle/>
          <a:p>
            <a:pPr marL="0" indent="0" algn="l">
              <a:buNone/>
            </a:pPr>
            <a:r>
              <a:rPr lang="en-US" sz="1050" b="1" dirty="0">
                <a:solidFill>
                  <a:srgbClr val="172033"/>
                </a:solidFill>
                <a:latin typeface="Arial" panose="020B0604020202020204" pitchFamily="34" charset="0"/>
                <a:ea typeface="Arial" panose="020B0604020202020204" pitchFamily="34" charset="-122"/>
                <a:cs typeface="Arial" panose="020B0604020202020204" pitchFamily="34" charset="-120"/>
              </a:rPr>
              <a:t>Precision</a:t>
            </a:r>
            <a:endParaRPr lang="en-US" sz="1050" dirty="0"/>
          </a:p>
        </p:txBody>
      </p:sp>
      <p:sp>
        <p:nvSpPr>
          <p:cNvPr id="14" name="Shape 12"/>
          <p:cNvSpPr/>
          <p:nvPr/>
        </p:nvSpPr>
        <p:spPr>
          <a:xfrm>
            <a:off x="1874520" y="2157984"/>
            <a:ext cx="1920240" cy="109728"/>
          </a:xfrm>
          <a:prstGeom prst="rect">
            <a:avLst/>
          </a:prstGeom>
          <a:solidFill>
            <a:srgbClr val="E8F6F1"/>
          </a:solidFill>
          <a:ln w="6350">
            <a:solidFill>
              <a:srgbClr val="E8F6F1"/>
            </a:solidFill>
            <a:prstDash val="solid"/>
          </a:ln>
        </p:spPr>
      </p:sp>
      <p:sp>
        <p:nvSpPr>
          <p:cNvPr id="15" name="Shape 13"/>
          <p:cNvSpPr/>
          <p:nvPr/>
        </p:nvSpPr>
        <p:spPr>
          <a:xfrm>
            <a:off x="1874520" y="2157984"/>
            <a:ext cx="1920240" cy="109728"/>
          </a:xfrm>
          <a:prstGeom prst="rect">
            <a:avLst/>
          </a:prstGeom>
          <a:solidFill>
            <a:srgbClr val="2A9D8F"/>
          </a:solidFill>
          <a:ln w="6350">
            <a:solidFill>
              <a:srgbClr val="2A9D8F"/>
            </a:solidFill>
            <a:prstDash val="solid"/>
          </a:ln>
        </p:spPr>
      </p:sp>
      <p:sp>
        <p:nvSpPr>
          <p:cNvPr id="16" name="Text 14"/>
          <p:cNvSpPr/>
          <p:nvPr/>
        </p:nvSpPr>
        <p:spPr>
          <a:xfrm>
            <a:off x="3886200" y="2107692"/>
            <a:ext cx="530352" cy="164592"/>
          </a:xfrm>
          <a:prstGeom prst="rect">
            <a:avLst/>
          </a:prstGeom>
          <a:noFill/>
        </p:spPr>
        <p:txBody>
          <a:bodyPr wrap="square" lIns="0" tIns="0" rIns="0" bIns="0" rtlCol="0" anchor="t">
            <a:normAutofit/>
          </a:bodyPr>
          <a:lstStyle/>
          <a:p>
            <a:pPr marL="0" indent="0" algn="r">
              <a:buNone/>
            </a:pPr>
            <a:r>
              <a:rPr lang="en-US" sz="850" dirty="0">
                <a:solidFill>
                  <a:srgbClr val="657287"/>
                </a:solidFill>
                <a:latin typeface="Arial" panose="020B0604020202020204" pitchFamily="34" charset="0"/>
                <a:ea typeface="Arial" panose="020B0604020202020204" pitchFamily="34" charset="-122"/>
                <a:cs typeface="Arial" panose="020B0604020202020204" pitchFamily="34" charset="-120"/>
              </a:rPr>
              <a:t>1.000 / 0.111</a:t>
            </a:r>
            <a:endParaRPr lang="en-US" sz="850" dirty="0"/>
          </a:p>
        </p:txBody>
      </p:sp>
      <p:sp>
        <p:nvSpPr>
          <p:cNvPr id="17" name="Text 15"/>
          <p:cNvSpPr/>
          <p:nvPr/>
        </p:nvSpPr>
        <p:spPr>
          <a:xfrm>
            <a:off x="822960" y="2633472"/>
            <a:ext cx="960120" cy="201168"/>
          </a:xfrm>
          <a:prstGeom prst="rect">
            <a:avLst/>
          </a:prstGeom>
          <a:noFill/>
        </p:spPr>
        <p:txBody>
          <a:bodyPr wrap="square" lIns="508" tIns="508" rIns="508" bIns="508" rtlCol="0" anchor="t">
            <a:normAutofit/>
          </a:bodyPr>
          <a:lstStyle/>
          <a:p>
            <a:pPr marL="0" indent="0" algn="l">
              <a:buNone/>
            </a:pPr>
            <a:r>
              <a:rPr lang="en-US" sz="1050" b="1" dirty="0">
                <a:solidFill>
                  <a:srgbClr val="172033"/>
                </a:solidFill>
                <a:latin typeface="Arial" panose="020B0604020202020204" pitchFamily="34" charset="0"/>
                <a:ea typeface="Arial" panose="020B0604020202020204" pitchFamily="34" charset="-122"/>
                <a:cs typeface="Arial" panose="020B0604020202020204" pitchFamily="34" charset="-120"/>
              </a:rPr>
              <a:t>Recall</a:t>
            </a:r>
            <a:endParaRPr lang="en-US" sz="1050" dirty="0"/>
          </a:p>
        </p:txBody>
      </p:sp>
      <p:sp>
        <p:nvSpPr>
          <p:cNvPr id="18" name="Shape 16"/>
          <p:cNvSpPr/>
          <p:nvPr/>
        </p:nvSpPr>
        <p:spPr>
          <a:xfrm>
            <a:off x="1874520" y="2670048"/>
            <a:ext cx="1920240" cy="109728"/>
          </a:xfrm>
          <a:prstGeom prst="rect">
            <a:avLst/>
          </a:prstGeom>
          <a:solidFill>
            <a:srgbClr val="E8F6F1"/>
          </a:solidFill>
          <a:ln w="6350">
            <a:solidFill>
              <a:srgbClr val="E8F6F1"/>
            </a:solidFill>
            <a:prstDash val="solid"/>
          </a:ln>
        </p:spPr>
      </p:sp>
      <p:sp>
        <p:nvSpPr>
          <p:cNvPr id="19" name="Shape 17"/>
          <p:cNvSpPr/>
          <p:nvPr/>
        </p:nvSpPr>
        <p:spPr>
          <a:xfrm>
            <a:off x="1874520" y="2670048"/>
            <a:ext cx="1920240" cy="109728"/>
          </a:xfrm>
          <a:prstGeom prst="rect">
            <a:avLst/>
          </a:prstGeom>
          <a:solidFill>
            <a:srgbClr val="2A9D8F"/>
          </a:solidFill>
          <a:ln w="6350">
            <a:solidFill>
              <a:srgbClr val="2A9D8F"/>
            </a:solidFill>
            <a:prstDash val="solid"/>
          </a:ln>
        </p:spPr>
      </p:sp>
      <p:sp>
        <p:nvSpPr>
          <p:cNvPr id="20" name="Text 18"/>
          <p:cNvSpPr/>
          <p:nvPr/>
        </p:nvSpPr>
        <p:spPr>
          <a:xfrm>
            <a:off x="3886200" y="2619756"/>
            <a:ext cx="530352" cy="164592"/>
          </a:xfrm>
          <a:prstGeom prst="rect">
            <a:avLst/>
          </a:prstGeom>
          <a:noFill/>
        </p:spPr>
        <p:txBody>
          <a:bodyPr wrap="square" lIns="0" tIns="0" rIns="0" bIns="0" rtlCol="0" anchor="t">
            <a:normAutofit/>
          </a:bodyPr>
          <a:lstStyle/>
          <a:p>
            <a:pPr marL="0" indent="0" algn="r">
              <a:buNone/>
            </a:pPr>
            <a:r>
              <a:rPr lang="en-US" sz="850" dirty="0">
                <a:solidFill>
                  <a:srgbClr val="657287"/>
                </a:solidFill>
                <a:latin typeface="Arial" panose="020B0604020202020204" pitchFamily="34" charset="0"/>
                <a:ea typeface="Arial" panose="020B0604020202020204" pitchFamily="34" charset="-122"/>
                <a:cs typeface="Arial" panose="020B0604020202020204" pitchFamily="34" charset="-120"/>
              </a:rPr>
              <a:t>1.000 / 0.333</a:t>
            </a:r>
            <a:endParaRPr lang="en-US" sz="850" dirty="0"/>
          </a:p>
        </p:txBody>
      </p:sp>
      <p:sp>
        <p:nvSpPr>
          <p:cNvPr id="21" name="Text 19"/>
          <p:cNvSpPr/>
          <p:nvPr/>
        </p:nvSpPr>
        <p:spPr>
          <a:xfrm>
            <a:off x="822960" y="3145536"/>
            <a:ext cx="960120" cy="201168"/>
          </a:xfrm>
          <a:prstGeom prst="rect">
            <a:avLst/>
          </a:prstGeom>
          <a:noFill/>
        </p:spPr>
        <p:txBody>
          <a:bodyPr wrap="square" lIns="508" tIns="508" rIns="508" bIns="508" rtlCol="0" anchor="t">
            <a:normAutofit/>
          </a:bodyPr>
          <a:lstStyle/>
          <a:p>
            <a:pPr marL="0" indent="0" algn="l">
              <a:buNone/>
            </a:pPr>
            <a:r>
              <a:rPr lang="en-US" sz="1050" b="1" dirty="0">
                <a:solidFill>
                  <a:srgbClr val="172033"/>
                </a:solidFill>
                <a:latin typeface="Arial" panose="020B0604020202020204" pitchFamily="34" charset="0"/>
                <a:ea typeface="Arial" panose="020B0604020202020204" pitchFamily="34" charset="-122"/>
                <a:cs typeface="Arial" panose="020B0604020202020204" pitchFamily="34" charset="-120"/>
              </a:rPr>
              <a:t>F1 Macro</a:t>
            </a:r>
            <a:endParaRPr lang="en-US" sz="1050" dirty="0"/>
          </a:p>
        </p:txBody>
      </p:sp>
      <p:sp>
        <p:nvSpPr>
          <p:cNvPr id="22" name="Shape 20"/>
          <p:cNvSpPr/>
          <p:nvPr/>
        </p:nvSpPr>
        <p:spPr>
          <a:xfrm>
            <a:off x="1874520" y="3182112"/>
            <a:ext cx="1920240" cy="109728"/>
          </a:xfrm>
          <a:prstGeom prst="rect">
            <a:avLst/>
          </a:prstGeom>
          <a:solidFill>
            <a:srgbClr val="E8F6F1"/>
          </a:solidFill>
          <a:ln w="6350">
            <a:solidFill>
              <a:srgbClr val="E8F6F1"/>
            </a:solidFill>
            <a:prstDash val="solid"/>
          </a:ln>
        </p:spPr>
      </p:sp>
      <p:sp>
        <p:nvSpPr>
          <p:cNvPr id="23" name="Shape 21"/>
          <p:cNvSpPr/>
          <p:nvPr/>
        </p:nvSpPr>
        <p:spPr>
          <a:xfrm>
            <a:off x="1874520" y="3182112"/>
            <a:ext cx="1920240" cy="109728"/>
          </a:xfrm>
          <a:prstGeom prst="rect">
            <a:avLst/>
          </a:prstGeom>
          <a:solidFill>
            <a:srgbClr val="2A9D8F"/>
          </a:solidFill>
          <a:ln w="6350">
            <a:solidFill>
              <a:srgbClr val="2A9D8F"/>
            </a:solidFill>
            <a:prstDash val="solid"/>
          </a:ln>
        </p:spPr>
      </p:sp>
      <p:sp>
        <p:nvSpPr>
          <p:cNvPr id="24" name="Text 22"/>
          <p:cNvSpPr/>
          <p:nvPr/>
        </p:nvSpPr>
        <p:spPr>
          <a:xfrm>
            <a:off x="3886200" y="3131820"/>
            <a:ext cx="530352" cy="164592"/>
          </a:xfrm>
          <a:prstGeom prst="rect">
            <a:avLst/>
          </a:prstGeom>
          <a:noFill/>
        </p:spPr>
        <p:txBody>
          <a:bodyPr wrap="square" lIns="0" tIns="0" rIns="0" bIns="0" rtlCol="0" anchor="t">
            <a:normAutofit/>
          </a:bodyPr>
          <a:lstStyle/>
          <a:p>
            <a:pPr marL="0" indent="0" algn="r">
              <a:buNone/>
            </a:pPr>
            <a:r>
              <a:rPr lang="en-US" sz="850" dirty="0">
                <a:solidFill>
                  <a:srgbClr val="657287"/>
                </a:solidFill>
                <a:latin typeface="Arial" panose="020B0604020202020204" pitchFamily="34" charset="0"/>
                <a:ea typeface="Arial" panose="020B0604020202020204" pitchFamily="34" charset="-122"/>
                <a:cs typeface="Arial" panose="020B0604020202020204" pitchFamily="34" charset="-120"/>
              </a:rPr>
              <a:t>1.000 / 0.167</a:t>
            </a:r>
            <a:endParaRPr lang="en-US" sz="850" dirty="0"/>
          </a:p>
        </p:txBody>
      </p:sp>
      <p:sp>
        <p:nvSpPr>
          <p:cNvPr id="25" name="Text 23"/>
          <p:cNvSpPr/>
          <p:nvPr/>
        </p:nvSpPr>
        <p:spPr>
          <a:xfrm>
            <a:off x="960120" y="3712464"/>
            <a:ext cx="3337560" cy="146304"/>
          </a:xfrm>
          <a:prstGeom prst="rect">
            <a:avLst/>
          </a:prstGeom>
          <a:noFill/>
        </p:spPr>
        <p:txBody>
          <a:bodyPr wrap="square" lIns="254" tIns="254" rIns="254" bIns="254" rtlCol="0" anchor="t">
            <a:normAutofit/>
          </a:bodyPr>
          <a:lstStyle/>
          <a:p>
            <a:pPr marL="0" indent="0" algn="ctr">
              <a:buNone/>
            </a:pPr>
            <a:r>
              <a:rPr lang="en-US" sz="850" dirty="0">
                <a:solidFill>
                  <a:srgbClr val="657287"/>
                </a:solidFill>
                <a:latin typeface="微软雅黑" panose="020B0503020204020204" pitchFamily="34" charset="-122"/>
                <a:ea typeface="微软雅黑" panose="020B0503020204020204" pitchFamily="34" charset="-122"/>
                <a:cs typeface="微软雅黑" panose="020B0503020204020204" pitchFamily="34" charset="-120"/>
              </a:rPr>
              <a:t>格式：RandomForest / Dummy baseline</a:t>
            </a:r>
            <a:endParaRPr lang="en-US" sz="850" dirty="0"/>
          </a:p>
        </p:txBody>
      </p:sp>
      <p:sp>
        <p:nvSpPr>
          <p:cNvPr id="26" name="Shape 24"/>
          <p:cNvSpPr/>
          <p:nvPr/>
        </p:nvSpPr>
        <p:spPr>
          <a:xfrm>
            <a:off x="4956048" y="960120"/>
            <a:ext cx="3611880" cy="3063240"/>
          </a:xfrm>
          <a:prstGeom prst="roundRect">
            <a:avLst>
              <a:gd name="adj" fmla="val 2985"/>
            </a:avLst>
          </a:prstGeom>
          <a:solidFill>
            <a:srgbClr val="FFFFFF"/>
          </a:solidFill>
          <a:ln w="10160">
            <a:solidFill>
              <a:srgbClr val="D9E4EA"/>
            </a:solidFill>
            <a:prstDash val="solid"/>
          </a:ln>
        </p:spPr>
      </p:sp>
      <p:sp>
        <p:nvSpPr>
          <p:cNvPr id="27" name="Text 25"/>
          <p:cNvSpPr/>
          <p:nvPr/>
        </p:nvSpPr>
        <p:spPr>
          <a:xfrm>
            <a:off x="5212080" y="1143000"/>
            <a:ext cx="2194560"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Top 5 特征重要性</a:t>
            </a:r>
            <a:endParaRPr lang="en-US" sz="1400" dirty="0"/>
          </a:p>
        </p:txBody>
      </p:sp>
      <p:sp>
        <p:nvSpPr>
          <p:cNvPr id="28" name="Text 26"/>
          <p:cNvSpPr/>
          <p:nvPr/>
        </p:nvSpPr>
        <p:spPr>
          <a:xfrm>
            <a:off x="5248656" y="1627632"/>
            <a:ext cx="1234440" cy="164592"/>
          </a:xfrm>
          <a:prstGeom prst="rect">
            <a:avLst/>
          </a:prstGeom>
          <a:noFill/>
        </p:spPr>
        <p:txBody>
          <a:bodyPr wrap="square" lIns="0" tIns="0" rIns="0" bIns="0" rtlCol="0" anchor="t">
            <a:normAutofit/>
          </a:bodyPr>
          <a:lstStyle/>
          <a:p>
            <a:pPr marL="0" indent="0" algn="l">
              <a:buNone/>
            </a:pPr>
            <a:r>
              <a:rPr lang="en-US" sz="880" dirty="0">
                <a:solidFill>
                  <a:srgbClr val="172033"/>
                </a:solidFill>
                <a:latin typeface="Arial" panose="020B0604020202020204" pitchFamily="34" charset="0"/>
                <a:ea typeface="Arial" panose="020B0604020202020204" pitchFamily="34" charset="-122"/>
                <a:cs typeface="Arial" panose="020B0604020202020204" pitchFamily="34" charset="-120"/>
              </a:rPr>
              <a:t>noise_level</a:t>
            </a:r>
            <a:endParaRPr lang="en-US" sz="880" dirty="0"/>
          </a:p>
        </p:txBody>
      </p:sp>
      <p:sp>
        <p:nvSpPr>
          <p:cNvPr id="29" name="Shape 27"/>
          <p:cNvSpPr/>
          <p:nvPr/>
        </p:nvSpPr>
        <p:spPr>
          <a:xfrm>
            <a:off x="6446520" y="1664208"/>
            <a:ext cx="1417320" cy="100584"/>
          </a:xfrm>
          <a:prstGeom prst="rect">
            <a:avLst/>
          </a:prstGeom>
          <a:solidFill>
            <a:srgbClr val="FFF4D6"/>
          </a:solidFill>
          <a:ln w="6350">
            <a:solidFill>
              <a:srgbClr val="FFF4D6"/>
            </a:solidFill>
            <a:prstDash val="solid"/>
          </a:ln>
        </p:spPr>
      </p:sp>
      <p:sp>
        <p:nvSpPr>
          <p:cNvPr id="30" name="Shape 28"/>
          <p:cNvSpPr/>
          <p:nvPr/>
        </p:nvSpPr>
        <p:spPr>
          <a:xfrm>
            <a:off x="6446520" y="1664208"/>
            <a:ext cx="1417320" cy="100584"/>
          </a:xfrm>
          <a:prstGeom prst="rect">
            <a:avLst/>
          </a:prstGeom>
          <a:solidFill>
            <a:srgbClr val="2A9D8F"/>
          </a:solidFill>
          <a:ln w="6350">
            <a:solidFill>
              <a:srgbClr val="2A9D8F"/>
            </a:solidFill>
            <a:prstDash val="solid"/>
          </a:ln>
        </p:spPr>
      </p:sp>
      <p:sp>
        <p:nvSpPr>
          <p:cNvPr id="31" name="Text 29"/>
          <p:cNvSpPr/>
          <p:nvPr/>
        </p:nvSpPr>
        <p:spPr>
          <a:xfrm>
            <a:off x="7936992" y="1623060"/>
            <a:ext cx="329184" cy="146304"/>
          </a:xfrm>
          <a:prstGeom prst="rect">
            <a:avLst/>
          </a:prstGeom>
          <a:noFill/>
        </p:spPr>
        <p:txBody>
          <a:bodyPr wrap="square" lIns="0" tIns="0" rIns="0" bIns="0" rtlCol="0" anchor="t">
            <a:normAutofit/>
          </a:bodyPr>
          <a:lstStyle/>
          <a:p>
            <a:pPr marL="0" indent="0" algn="l">
              <a:buNone/>
            </a:pPr>
            <a:r>
              <a:rPr lang="en-US" sz="800" dirty="0">
                <a:solidFill>
                  <a:srgbClr val="657287"/>
                </a:solidFill>
                <a:latin typeface="Arial" panose="020B0604020202020204" pitchFamily="34" charset="0"/>
                <a:ea typeface="Arial" panose="020B0604020202020204" pitchFamily="34" charset="-122"/>
                <a:cs typeface="Arial" panose="020B0604020202020204" pitchFamily="34" charset="-120"/>
              </a:rPr>
              <a:t>0.152</a:t>
            </a:r>
            <a:endParaRPr lang="en-US" sz="800" dirty="0"/>
          </a:p>
        </p:txBody>
      </p:sp>
      <p:sp>
        <p:nvSpPr>
          <p:cNvPr id="32" name="Text 30"/>
          <p:cNvSpPr/>
          <p:nvPr/>
        </p:nvSpPr>
        <p:spPr>
          <a:xfrm>
            <a:off x="5248656" y="2066544"/>
            <a:ext cx="1234440" cy="164592"/>
          </a:xfrm>
          <a:prstGeom prst="rect">
            <a:avLst/>
          </a:prstGeom>
          <a:noFill/>
        </p:spPr>
        <p:txBody>
          <a:bodyPr wrap="square" lIns="0" tIns="0" rIns="0" bIns="0" rtlCol="0" anchor="t">
            <a:normAutofit/>
          </a:bodyPr>
          <a:lstStyle/>
          <a:p>
            <a:pPr marL="0" indent="0" algn="l">
              <a:buNone/>
            </a:pPr>
            <a:r>
              <a:rPr lang="en-US" sz="880" dirty="0">
                <a:solidFill>
                  <a:srgbClr val="172033"/>
                </a:solidFill>
                <a:latin typeface="Arial" panose="020B0604020202020204" pitchFamily="34" charset="0"/>
                <a:ea typeface="Arial" panose="020B0604020202020204" pitchFamily="34" charset="-122"/>
                <a:cs typeface="Arial" panose="020B0604020202020204" pitchFamily="34" charset="-120"/>
              </a:rPr>
              <a:t>phone_distraction</a:t>
            </a:r>
            <a:endParaRPr lang="en-US" sz="880" dirty="0"/>
          </a:p>
        </p:txBody>
      </p:sp>
      <p:sp>
        <p:nvSpPr>
          <p:cNvPr id="33" name="Shape 31"/>
          <p:cNvSpPr/>
          <p:nvPr/>
        </p:nvSpPr>
        <p:spPr>
          <a:xfrm>
            <a:off x="6446520" y="2103120"/>
            <a:ext cx="1417320" cy="100584"/>
          </a:xfrm>
          <a:prstGeom prst="rect">
            <a:avLst/>
          </a:prstGeom>
          <a:solidFill>
            <a:srgbClr val="FFF4D6"/>
          </a:solidFill>
          <a:ln w="6350">
            <a:solidFill>
              <a:srgbClr val="FFF4D6"/>
            </a:solidFill>
            <a:prstDash val="solid"/>
          </a:ln>
        </p:spPr>
      </p:sp>
      <p:sp>
        <p:nvSpPr>
          <p:cNvPr id="34" name="Shape 32"/>
          <p:cNvSpPr/>
          <p:nvPr/>
        </p:nvSpPr>
        <p:spPr>
          <a:xfrm>
            <a:off x="6446520" y="2103120"/>
            <a:ext cx="1378035" cy="100584"/>
          </a:xfrm>
          <a:prstGeom prst="rect">
            <a:avLst/>
          </a:prstGeom>
          <a:solidFill>
            <a:srgbClr val="E9C46A"/>
          </a:solidFill>
          <a:ln w="6350">
            <a:solidFill>
              <a:srgbClr val="E9C46A"/>
            </a:solidFill>
            <a:prstDash val="solid"/>
          </a:ln>
        </p:spPr>
      </p:sp>
      <p:sp>
        <p:nvSpPr>
          <p:cNvPr id="35" name="Text 33"/>
          <p:cNvSpPr/>
          <p:nvPr/>
        </p:nvSpPr>
        <p:spPr>
          <a:xfrm>
            <a:off x="7936992" y="2061972"/>
            <a:ext cx="329184" cy="146304"/>
          </a:xfrm>
          <a:prstGeom prst="rect">
            <a:avLst/>
          </a:prstGeom>
          <a:noFill/>
        </p:spPr>
        <p:txBody>
          <a:bodyPr wrap="square" lIns="0" tIns="0" rIns="0" bIns="0" rtlCol="0" anchor="t">
            <a:normAutofit/>
          </a:bodyPr>
          <a:lstStyle/>
          <a:p>
            <a:pPr marL="0" indent="0" algn="l">
              <a:buNone/>
            </a:pPr>
            <a:r>
              <a:rPr lang="en-US" sz="800" dirty="0">
                <a:solidFill>
                  <a:srgbClr val="657287"/>
                </a:solidFill>
                <a:latin typeface="Arial" panose="020B0604020202020204" pitchFamily="34" charset="0"/>
                <a:ea typeface="Arial" panose="020B0604020202020204" pitchFamily="34" charset="-122"/>
                <a:cs typeface="Arial" panose="020B0604020202020204" pitchFamily="34" charset="-120"/>
              </a:rPr>
              <a:t>0.148</a:t>
            </a:r>
            <a:endParaRPr lang="en-US" sz="800" dirty="0"/>
          </a:p>
        </p:txBody>
      </p:sp>
      <p:sp>
        <p:nvSpPr>
          <p:cNvPr id="36" name="Text 34"/>
          <p:cNvSpPr/>
          <p:nvPr/>
        </p:nvSpPr>
        <p:spPr>
          <a:xfrm>
            <a:off x="5248656" y="2505456"/>
            <a:ext cx="1234440" cy="164592"/>
          </a:xfrm>
          <a:prstGeom prst="rect">
            <a:avLst/>
          </a:prstGeom>
          <a:noFill/>
        </p:spPr>
        <p:txBody>
          <a:bodyPr wrap="square" lIns="0" tIns="0" rIns="0" bIns="0" rtlCol="0" anchor="t">
            <a:normAutofit/>
          </a:bodyPr>
          <a:lstStyle/>
          <a:p>
            <a:pPr marL="0" indent="0" algn="l">
              <a:buNone/>
            </a:pPr>
            <a:r>
              <a:rPr lang="en-US" sz="880" dirty="0">
                <a:solidFill>
                  <a:srgbClr val="172033"/>
                </a:solidFill>
                <a:latin typeface="Arial" panose="020B0604020202020204" pitchFamily="34" charset="0"/>
                <a:ea typeface="Arial" panose="020B0604020202020204" pitchFamily="34" charset="-122"/>
                <a:cs typeface="Arial" panose="020B0604020202020204" pitchFamily="34" charset="-120"/>
              </a:rPr>
              <a:t>mood_stress</a:t>
            </a:r>
            <a:endParaRPr lang="en-US" sz="880" dirty="0"/>
          </a:p>
        </p:txBody>
      </p:sp>
      <p:sp>
        <p:nvSpPr>
          <p:cNvPr id="37" name="Shape 35"/>
          <p:cNvSpPr/>
          <p:nvPr/>
        </p:nvSpPr>
        <p:spPr>
          <a:xfrm>
            <a:off x="6446520" y="2542032"/>
            <a:ext cx="1417320" cy="100584"/>
          </a:xfrm>
          <a:prstGeom prst="rect">
            <a:avLst/>
          </a:prstGeom>
          <a:solidFill>
            <a:srgbClr val="FFF4D6"/>
          </a:solidFill>
          <a:ln w="6350">
            <a:solidFill>
              <a:srgbClr val="FFF4D6"/>
            </a:solidFill>
            <a:prstDash val="solid"/>
          </a:ln>
        </p:spPr>
      </p:sp>
      <p:sp>
        <p:nvSpPr>
          <p:cNvPr id="38" name="Shape 36"/>
          <p:cNvSpPr/>
          <p:nvPr/>
        </p:nvSpPr>
        <p:spPr>
          <a:xfrm>
            <a:off x="6446520" y="2542032"/>
            <a:ext cx="1068958" cy="100584"/>
          </a:xfrm>
          <a:prstGeom prst="rect">
            <a:avLst/>
          </a:prstGeom>
          <a:solidFill>
            <a:srgbClr val="2A9D8F"/>
          </a:solidFill>
          <a:ln w="6350">
            <a:solidFill>
              <a:srgbClr val="2A9D8F"/>
            </a:solidFill>
            <a:prstDash val="solid"/>
          </a:ln>
        </p:spPr>
      </p:sp>
      <p:sp>
        <p:nvSpPr>
          <p:cNvPr id="39" name="Text 37"/>
          <p:cNvSpPr/>
          <p:nvPr/>
        </p:nvSpPr>
        <p:spPr>
          <a:xfrm>
            <a:off x="7936992" y="2500884"/>
            <a:ext cx="329184" cy="146304"/>
          </a:xfrm>
          <a:prstGeom prst="rect">
            <a:avLst/>
          </a:prstGeom>
          <a:noFill/>
        </p:spPr>
        <p:txBody>
          <a:bodyPr wrap="square" lIns="0" tIns="0" rIns="0" bIns="0" rtlCol="0" anchor="t">
            <a:normAutofit/>
          </a:bodyPr>
          <a:lstStyle/>
          <a:p>
            <a:pPr marL="0" indent="0" algn="l">
              <a:buNone/>
            </a:pPr>
            <a:r>
              <a:rPr lang="en-US" sz="800" dirty="0">
                <a:solidFill>
                  <a:srgbClr val="657287"/>
                </a:solidFill>
                <a:latin typeface="Arial" panose="020B0604020202020204" pitchFamily="34" charset="0"/>
                <a:ea typeface="Arial" panose="020B0604020202020204" pitchFamily="34" charset="-122"/>
                <a:cs typeface="Arial" panose="020B0604020202020204" pitchFamily="34" charset="-120"/>
              </a:rPr>
              <a:t>0.114</a:t>
            </a:r>
            <a:endParaRPr lang="en-US" sz="800" dirty="0"/>
          </a:p>
        </p:txBody>
      </p:sp>
      <p:sp>
        <p:nvSpPr>
          <p:cNvPr id="40" name="Text 38"/>
          <p:cNvSpPr/>
          <p:nvPr/>
        </p:nvSpPr>
        <p:spPr>
          <a:xfrm>
            <a:off x="5248656" y="2944368"/>
            <a:ext cx="1234440" cy="164592"/>
          </a:xfrm>
          <a:prstGeom prst="rect">
            <a:avLst/>
          </a:prstGeom>
          <a:noFill/>
        </p:spPr>
        <p:txBody>
          <a:bodyPr wrap="square" lIns="0" tIns="0" rIns="0" bIns="0" rtlCol="0" anchor="t">
            <a:normAutofit/>
          </a:bodyPr>
          <a:lstStyle/>
          <a:p>
            <a:pPr marL="0" indent="0" algn="l">
              <a:buNone/>
            </a:pPr>
            <a:r>
              <a:rPr lang="en-US" sz="880" dirty="0">
                <a:solidFill>
                  <a:srgbClr val="172033"/>
                </a:solidFill>
                <a:latin typeface="Arial" panose="020B0604020202020204" pitchFamily="34" charset="0"/>
                <a:ea typeface="Arial" panose="020B0604020202020204" pitchFamily="34" charset="-122"/>
                <a:cs typeface="Arial" panose="020B0604020202020204" pitchFamily="34" charset="-120"/>
              </a:rPr>
              <a:t>light_level</a:t>
            </a:r>
            <a:endParaRPr lang="en-US" sz="880" dirty="0"/>
          </a:p>
        </p:txBody>
      </p:sp>
      <p:sp>
        <p:nvSpPr>
          <p:cNvPr id="41" name="Shape 39"/>
          <p:cNvSpPr/>
          <p:nvPr/>
        </p:nvSpPr>
        <p:spPr>
          <a:xfrm>
            <a:off x="6446520" y="2980944"/>
            <a:ext cx="1417320" cy="100584"/>
          </a:xfrm>
          <a:prstGeom prst="rect">
            <a:avLst/>
          </a:prstGeom>
          <a:solidFill>
            <a:srgbClr val="FFF4D6"/>
          </a:solidFill>
          <a:ln w="6350">
            <a:solidFill>
              <a:srgbClr val="FFF4D6"/>
            </a:solidFill>
            <a:prstDash val="solid"/>
          </a:ln>
        </p:spPr>
      </p:sp>
      <p:sp>
        <p:nvSpPr>
          <p:cNvPr id="42" name="Shape 40"/>
          <p:cNvSpPr/>
          <p:nvPr/>
        </p:nvSpPr>
        <p:spPr>
          <a:xfrm>
            <a:off x="6446520" y="2980944"/>
            <a:ext cx="1057349" cy="100584"/>
          </a:xfrm>
          <a:prstGeom prst="rect">
            <a:avLst/>
          </a:prstGeom>
          <a:solidFill>
            <a:srgbClr val="E9C46A"/>
          </a:solidFill>
          <a:ln w="6350">
            <a:solidFill>
              <a:srgbClr val="E9C46A"/>
            </a:solidFill>
            <a:prstDash val="solid"/>
          </a:ln>
        </p:spPr>
      </p:sp>
      <p:sp>
        <p:nvSpPr>
          <p:cNvPr id="43" name="Text 41"/>
          <p:cNvSpPr/>
          <p:nvPr/>
        </p:nvSpPr>
        <p:spPr>
          <a:xfrm>
            <a:off x="7936992" y="2939796"/>
            <a:ext cx="329184" cy="146304"/>
          </a:xfrm>
          <a:prstGeom prst="rect">
            <a:avLst/>
          </a:prstGeom>
          <a:noFill/>
        </p:spPr>
        <p:txBody>
          <a:bodyPr wrap="square" lIns="0" tIns="0" rIns="0" bIns="0" rtlCol="0" anchor="t">
            <a:normAutofit/>
          </a:bodyPr>
          <a:lstStyle/>
          <a:p>
            <a:pPr marL="0" indent="0" algn="l">
              <a:buNone/>
            </a:pPr>
            <a:r>
              <a:rPr lang="en-US" sz="800" dirty="0">
                <a:solidFill>
                  <a:srgbClr val="657287"/>
                </a:solidFill>
                <a:latin typeface="Arial" panose="020B0604020202020204" pitchFamily="34" charset="0"/>
                <a:ea typeface="Arial" panose="020B0604020202020204" pitchFamily="34" charset="-122"/>
                <a:cs typeface="Arial" panose="020B0604020202020204" pitchFamily="34" charset="-120"/>
              </a:rPr>
              <a:t>0.113</a:t>
            </a:r>
            <a:endParaRPr lang="en-US" sz="800" dirty="0"/>
          </a:p>
        </p:txBody>
      </p:sp>
      <p:sp>
        <p:nvSpPr>
          <p:cNvPr id="44" name="Text 42"/>
          <p:cNvSpPr/>
          <p:nvPr/>
        </p:nvSpPr>
        <p:spPr>
          <a:xfrm>
            <a:off x="5248656" y="3383280"/>
            <a:ext cx="1234440" cy="164592"/>
          </a:xfrm>
          <a:prstGeom prst="rect">
            <a:avLst/>
          </a:prstGeom>
          <a:noFill/>
        </p:spPr>
        <p:txBody>
          <a:bodyPr wrap="square" lIns="0" tIns="0" rIns="0" bIns="0" rtlCol="0" anchor="t">
            <a:normAutofit/>
          </a:bodyPr>
          <a:lstStyle/>
          <a:p>
            <a:pPr marL="0" indent="0" algn="l">
              <a:buNone/>
            </a:pPr>
            <a:r>
              <a:rPr lang="en-US" sz="880" dirty="0">
                <a:solidFill>
                  <a:srgbClr val="172033"/>
                </a:solidFill>
                <a:latin typeface="Arial" panose="020B0604020202020204" pitchFamily="34" charset="0"/>
                <a:ea typeface="Arial" panose="020B0604020202020204" pitchFamily="34" charset="-122"/>
                <a:cs typeface="Arial" panose="020B0604020202020204" pitchFamily="34" charset="-120"/>
              </a:rPr>
              <a:t>move_count</a:t>
            </a:r>
            <a:endParaRPr lang="en-US" sz="880" dirty="0"/>
          </a:p>
        </p:txBody>
      </p:sp>
      <p:sp>
        <p:nvSpPr>
          <p:cNvPr id="45" name="Shape 43"/>
          <p:cNvSpPr/>
          <p:nvPr/>
        </p:nvSpPr>
        <p:spPr>
          <a:xfrm>
            <a:off x="6446520" y="3419856"/>
            <a:ext cx="1417320" cy="100584"/>
          </a:xfrm>
          <a:prstGeom prst="rect">
            <a:avLst/>
          </a:prstGeom>
          <a:solidFill>
            <a:srgbClr val="FFF4D6"/>
          </a:solidFill>
          <a:ln w="6350">
            <a:solidFill>
              <a:srgbClr val="FFF4D6"/>
            </a:solidFill>
            <a:prstDash val="solid"/>
          </a:ln>
        </p:spPr>
      </p:sp>
      <p:sp>
        <p:nvSpPr>
          <p:cNvPr id="46" name="Shape 44"/>
          <p:cNvSpPr/>
          <p:nvPr/>
        </p:nvSpPr>
        <p:spPr>
          <a:xfrm>
            <a:off x="6446520" y="3419856"/>
            <a:ext cx="835976" cy="100584"/>
          </a:xfrm>
          <a:prstGeom prst="rect">
            <a:avLst/>
          </a:prstGeom>
          <a:solidFill>
            <a:srgbClr val="2A9D8F"/>
          </a:solidFill>
          <a:ln w="6350">
            <a:solidFill>
              <a:srgbClr val="2A9D8F"/>
            </a:solidFill>
            <a:prstDash val="solid"/>
          </a:ln>
        </p:spPr>
      </p:sp>
      <p:sp>
        <p:nvSpPr>
          <p:cNvPr id="47" name="Text 45"/>
          <p:cNvSpPr/>
          <p:nvPr/>
        </p:nvSpPr>
        <p:spPr>
          <a:xfrm>
            <a:off x="7936992" y="3378708"/>
            <a:ext cx="329184" cy="146304"/>
          </a:xfrm>
          <a:prstGeom prst="rect">
            <a:avLst/>
          </a:prstGeom>
          <a:noFill/>
        </p:spPr>
        <p:txBody>
          <a:bodyPr wrap="square" lIns="0" tIns="0" rIns="0" bIns="0" rtlCol="0" anchor="t">
            <a:normAutofit/>
          </a:bodyPr>
          <a:lstStyle/>
          <a:p>
            <a:pPr marL="0" indent="0" algn="l">
              <a:buNone/>
            </a:pPr>
            <a:r>
              <a:rPr lang="en-US" sz="800" dirty="0">
                <a:solidFill>
                  <a:srgbClr val="657287"/>
                </a:solidFill>
                <a:latin typeface="Arial" panose="020B0604020202020204" pitchFamily="34" charset="0"/>
                <a:ea typeface="Arial" panose="020B0604020202020204" pitchFamily="34" charset="-122"/>
                <a:cs typeface="Arial" panose="020B0604020202020204" pitchFamily="34" charset="-120"/>
              </a:rPr>
              <a:t>0.090</a:t>
            </a:r>
            <a:endParaRPr lang="en-US" sz="800" dirty="0"/>
          </a:p>
        </p:txBody>
      </p:sp>
      <p:sp>
        <p:nvSpPr>
          <p:cNvPr id="48" name="Shape 46"/>
          <p:cNvSpPr/>
          <p:nvPr/>
        </p:nvSpPr>
        <p:spPr>
          <a:xfrm>
            <a:off x="749935" y="4224655"/>
            <a:ext cx="7635240" cy="799465"/>
          </a:xfrm>
          <a:prstGeom prst="roundRect">
            <a:avLst>
              <a:gd name="adj" fmla="val 17241"/>
            </a:avLst>
          </a:prstGeom>
          <a:solidFill>
            <a:srgbClr val="FCEDE9"/>
          </a:solidFill>
          <a:ln w="10160">
            <a:solidFill>
              <a:srgbClr val="E76F51"/>
            </a:solidFill>
            <a:prstDash val="solid"/>
          </a:ln>
        </p:spPr>
      </p:sp>
      <p:sp>
        <p:nvSpPr>
          <p:cNvPr id="49" name="Text 47"/>
          <p:cNvSpPr/>
          <p:nvPr/>
        </p:nvSpPr>
        <p:spPr>
          <a:xfrm>
            <a:off x="914400" y="4361688"/>
            <a:ext cx="7306056" cy="256032"/>
          </a:xfrm>
          <a:prstGeom prst="rect">
            <a:avLst/>
          </a:prstGeom>
          <a:noFill/>
        </p:spPr>
        <p:txBody>
          <a:bodyPr wrap="square" lIns="508" tIns="508" rIns="508" bIns="508" rtlCol="0" anchor="t">
            <a:normAutofit/>
          </a:bodyPr>
          <a:lstStyle/>
          <a:p>
            <a:pPr marL="0" indent="0" algn="l">
              <a:buNone/>
            </a:pPr>
            <a:r>
              <a:rPr lang="en-US" sz="112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口径说明</a:t>
            </a:r>
            <a:endParaRPr lang="en-US" sz="1120" dirty="0"/>
          </a:p>
        </p:txBody>
      </p:sp>
      <p:sp>
        <p:nvSpPr>
          <p:cNvPr id="50" name="Text 48"/>
          <p:cNvSpPr/>
          <p:nvPr/>
        </p:nvSpPr>
        <p:spPr>
          <a:xfrm>
            <a:off x="914400" y="4663440"/>
            <a:ext cx="7306056" cy="36576"/>
          </a:xfrm>
          <a:prstGeom prst="rect">
            <a:avLst/>
          </a:prstGeom>
          <a:noFill/>
        </p:spPr>
        <p:txBody>
          <a:bodyPr wrap="square" lIns="381" tIns="381" rIns="381" bIns="381" rtlCol="0" anchor="t">
            <a:normAutofit/>
          </a:bodyPr>
          <a:lstStyle/>
          <a:p>
            <a:pPr marL="0" indent="0" algn="l">
              <a:buNone/>
            </a:pPr>
            <a:r>
              <a:rPr lang="en-US" sz="10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这些指标来自 120 条 mock 数据，只证明 Python 训练、预测和看板链路可运行，不证明真实场景泛化能力。</a:t>
            </a:r>
            <a:endParaRPr lang="en-US" sz="10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BFB"/>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演示流程与风险处理</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答辩演示</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10</a:t>
            </a:r>
            <a:endParaRPr lang="en-US" sz="1000" dirty="0"/>
          </a:p>
        </p:txBody>
      </p:sp>
      <p:sp>
        <p:nvSpPr>
          <p:cNvPr id="7" name="Shape 5"/>
          <p:cNvSpPr/>
          <p:nvPr/>
        </p:nvSpPr>
        <p:spPr>
          <a:xfrm>
            <a:off x="658368" y="987552"/>
            <a:ext cx="3429000" cy="3246120"/>
          </a:xfrm>
          <a:prstGeom prst="roundRect">
            <a:avLst>
              <a:gd name="adj" fmla="val 2817"/>
            </a:avLst>
          </a:prstGeom>
          <a:solidFill>
            <a:srgbClr val="FFFFFF"/>
          </a:solidFill>
          <a:ln w="10160">
            <a:solidFill>
              <a:srgbClr val="2A9D8F"/>
            </a:solidFill>
            <a:prstDash val="solid"/>
          </a:ln>
        </p:spPr>
      </p:sp>
      <p:sp>
        <p:nvSpPr>
          <p:cNvPr id="8" name="Text 6"/>
          <p:cNvSpPr/>
          <p:nvPr/>
        </p:nvSpPr>
        <p:spPr>
          <a:xfrm>
            <a:off x="914400" y="1188720"/>
            <a:ext cx="1920240" cy="274320"/>
          </a:xfrm>
          <a:prstGeom prst="rect">
            <a:avLst/>
          </a:prstGeom>
          <a:noFill/>
        </p:spPr>
        <p:txBody>
          <a:bodyPr wrap="square" lIns="508" tIns="508" rIns="508" bIns="508" rtlCol="0" anchor="t">
            <a:normAutofit/>
          </a:bodyPr>
          <a:lstStyle/>
          <a:p>
            <a:pPr marL="0" indent="0" algn="l">
              <a:buNone/>
            </a:pPr>
            <a:r>
              <a:rPr lang="en-US" sz="15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5 分钟演示顺序</a:t>
            </a:r>
            <a:endParaRPr lang="en-US" sz="1500" dirty="0"/>
          </a:p>
        </p:txBody>
      </p:sp>
      <p:sp>
        <p:nvSpPr>
          <p:cNvPr id="9" name="Text 7"/>
          <p:cNvSpPr/>
          <p:nvPr/>
        </p:nvSpPr>
        <p:spPr>
          <a:xfrm>
            <a:off x="914400" y="1691640"/>
            <a:ext cx="2651760" cy="2148840"/>
          </a:xfrm>
          <a:prstGeom prst="rect">
            <a:avLst/>
          </a:prstGeom>
          <a:noFill/>
        </p:spPr>
        <p:txBody>
          <a:bodyPr wrap="square" lIns="508" tIns="508" rIns="508" bIns="508" rtlCol="0" anchor="t">
            <a:normAutofit/>
          </a:bodyPr>
          <a:lstStyle/>
          <a:p>
            <a:pPr marL="0" indent="0">
              <a:buNone/>
            </a:pPr>
            <a:r>
              <a:rPr lang="en-US" sz="114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1. 输入昵称进入系统</a:t>
            </a:r>
            <a:endParaRPr lang="en-US" sz="1140" dirty="0"/>
          </a:p>
          <a:p>
            <a:pPr marL="0" indent="0">
              <a:buNone/>
            </a:pPr>
            <a:r>
              <a:rPr lang="en-US" sz="114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2. 点击开始学习并观察计时状态</a:t>
            </a:r>
            <a:endParaRPr lang="en-US" sz="1140" dirty="0"/>
          </a:p>
          <a:p>
            <a:pPr marL="0" indent="0">
              <a:buNone/>
            </a:pPr>
            <a:r>
              <a:rPr lang="en-US" sz="114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3. 结束后填写地点、任务和量表</a:t>
            </a:r>
            <a:endParaRPr lang="en-US" sz="1140" dirty="0"/>
          </a:p>
          <a:p>
            <a:pPr marL="0" indent="0">
              <a:buNone/>
            </a:pPr>
            <a:r>
              <a:rPr lang="en-US" sz="114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4. 查看历史记录、分析看板和预测建议</a:t>
            </a:r>
            <a:endParaRPr lang="en-US" sz="1140" dirty="0"/>
          </a:p>
          <a:p>
            <a:pPr marL="0" indent="0">
              <a:buNone/>
            </a:pPr>
            <a:r>
              <a:rPr lang="en-US" sz="114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5. 说明真实数据与 mock 数据边界</a:t>
            </a:r>
            <a:endParaRPr lang="en-US" sz="1140" dirty="0"/>
          </a:p>
        </p:txBody>
      </p:sp>
      <p:sp>
        <p:nvSpPr>
          <p:cNvPr id="10" name="Shape 8"/>
          <p:cNvSpPr/>
          <p:nvPr/>
        </p:nvSpPr>
        <p:spPr>
          <a:xfrm>
            <a:off x="4617720" y="987552"/>
            <a:ext cx="3611880" cy="749808"/>
          </a:xfrm>
          <a:prstGeom prst="roundRect">
            <a:avLst>
              <a:gd name="adj" fmla="val 12195"/>
            </a:avLst>
          </a:prstGeom>
          <a:solidFill>
            <a:srgbClr val="FFFFFF"/>
          </a:solidFill>
          <a:ln w="10160">
            <a:solidFill>
              <a:srgbClr val="2A9D8F"/>
            </a:solidFill>
            <a:prstDash val="solid"/>
          </a:ln>
        </p:spPr>
      </p:sp>
      <p:sp>
        <p:nvSpPr>
          <p:cNvPr id="11" name="Text 9"/>
          <p:cNvSpPr/>
          <p:nvPr/>
        </p:nvSpPr>
        <p:spPr>
          <a:xfrm>
            <a:off x="4782312" y="1124712"/>
            <a:ext cx="3282696" cy="256032"/>
          </a:xfrm>
          <a:prstGeom prst="rect">
            <a:avLst/>
          </a:prstGeom>
          <a:noFill/>
        </p:spPr>
        <p:txBody>
          <a:bodyPr wrap="square" lIns="508" tIns="508" rIns="508" bIns="508" rtlCol="0" anchor="t">
            <a:normAutofit/>
          </a:bodyPr>
          <a:lstStyle/>
          <a:p>
            <a:pPr marL="0" indent="0" algn="l">
              <a:buNone/>
            </a:pPr>
            <a:r>
              <a:rPr lang="en-US" sz="12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传感器兼容性</a:t>
            </a:r>
            <a:endParaRPr lang="en-US" sz="1250" dirty="0"/>
          </a:p>
        </p:txBody>
      </p:sp>
      <p:sp>
        <p:nvSpPr>
          <p:cNvPr id="12" name="Text 10"/>
          <p:cNvSpPr/>
          <p:nvPr/>
        </p:nvSpPr>
        <p:spPr>
          <a:xfrm>
            <a:off x="4782312" y="1463040"/>
            <a:ext cx="3282696" cy="182880"/>
          </a:xfrm>
          <a:prstGeom prst="rect">
            <a:avLst/>
          </a:prstGeom>
          <a:noFill/>
        </p:spPr>
        <p:txBody>
          <a:bodyPr wrap="square" lIns="381" tIns="381" rIns="381" bIns="381" rtlCol="0" anchor="t">
            <a:normAutofit/>
          </a:bodyPr>
          <a:lstStyle/>
          <a:p>
            <a:pPr marL="0" indent="0" algn="l">
              <a:buNone/>
            </a:pPr>
            <a:r>
              <a:rPr lang="en-US" sz="10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运动特征可缺失，不阻断学习记录主流程。</a:t>
            </a:r>
            <a:endParaRPr lang="en-US" sz="1060" dirty="0"/>
          </a:p>
        </p:txBody>
      </p:sp>
      <p:sp>
        <p:nvSpPr>
          <p:cNvPr id="13" name="Shape 11"/>
          <p:cNvSpPr/>
          <p:nvPr/>
        </p:nvSpPr>
        <p:spPr>
          <a:xfrm>
            <a:off x="4617720" y="1993392"/>
            <a:ext cx="3611880" cy="749808"/>
          </a:xfrm>
          <a:prstGeom prst="roundRect">
            <a:avLst>
              <a:gd name="adj" fmla="val 12195"/>
            </a:avLst>
          </a:prstGeom>
          <a:solidFill>
            <a:srgbClr val="FFF4D6"/>
          </a:solidFill>
          <a:ln w="10160">
            <a:solidFill>
              <a:srgbClr val="E9C46A"/>
            </a:solidFill>
            <a:prstDash val="solid"/>
          </a:ln>
        </p:spPr>
      </p:sp>
      <p:sp>
        <p:nvSpPr>
          <p:cNvPr id="14" name="Text 12"/>
          <p:cNvSpPr/>
          <p:nvPr/>
        </p:nvSpPr>
        <p:spPr>
          <a:xfrm>
            <a:off x="4782312" y="2130552"/>
            <a:ext cx="3282696" cy="256032"/>
          </a:xfrm>
          <a:prstGeom prst="rect">
            <a:avLst/>
          </a:prstGeom>
          <a:noFill/>
        </p:spPr>
        <p:txBody>
          <a:bodyPr wrap="square" lIns="508" tIns="508" rIns="508" bIns="508" rtlCol="0" anchor="t">
            <a:normAutofit/>
          </a:bodyPr>
          <a:lstStyle/>
          <a:p>
            <a:pPr marL="0" indent="0" algn="l">
              <a:buNone/>
            </a:pPr>
            <a:r>
              <a:rPr lang="en-US" sz="12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真实样本不足</a:t>
            </a:r>
            <a:endParaRPr lang="en-US" sz="1250" dirty="0"/>
          </a:p>
        </p:txBody>
      </p:sp>
      <p:sp>
        <p:nvSpPr>
          <p:cNvPr id="15" name="Text 13"/>
          <p:cNvSpPr/>
          <p:nvPr/>
        </p:nvSpPr>
        <p:spPr>
          <a:xfrm>
            <a:off x="4782312" y="2468880"/>
            <a:ext cx="3282696" cy="182880"/>
          </a:xfrm>
          <a:prstGeom prst="rect">
            <a:avLst/>
          </a:prstGeom>
          <a:noFill/>
        </p:spPr>
        <p:txBody>
          <a:bodyPr wrap="square" lIns="381" tIns="381" rIns="381" bIns="381" rtlCol="0" anchor="t">
            <a:normAutofit/>
          </a:bodyPr>
          <a:lstStyle/>
          <a:p>
            <a:pPr marL="0" indent="0" algn="l">
              <a:buNone/>
            </a:pPr>
            <a:r>
              <a:rPr lang="en-US" sz="10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真实 completed=17，只做质检，不包装成模型结论。</a:t>
            </a:r>
            <a:endParaRPr lang="en-US" sz="1060" dirty="0"/>
          </a:p>
        </p:txBody>
      </p:sp>
      <p:sp>
        <p:nvSpPr>
          <p:cNvPr id="16" name="Shape 14"/>
          <p:cNvSpPr/>
          <p:nvPr/>
        </p:nvSpPr>
        <p:spPr>
          <a:xfrm>
            <a:off x="4617720" y="2999232"/>
            <a:ext cx="3611880" cy="749808"/>
          </a:xfrm>
          <a:prstGeom prst="roundRect">
            <a:avLst>
              <a:gd name="adj" fmla="val 12195"/>
            </a:avLst>
          </a:prstGeom>
          <a:solidFill>
            <a:srgbClr val="FCEDE9"/>
          </a:solidFill>
          <a:ln w="10160">
            <a:solidFill>
              <a:srgbClr val="E76F51"/>
            </a:solidFill>
            <a:prstDash val="solid"/>
          </a:ln>
        </p:spPr>
      </p:sp>
      <p:sp>
        <p:nvSpPr>
          <p:cNvPr id="17" name="Text 15"/>
          <p:cNvSpPr/>
          <p:nvPr/>
        </p:nvSpPr>
        <p:spPr>
          <a:xfrm>
            <a:off x="4782312" y="3136392"/>
            <a:ext cx="3282696" cy="256032"/>
          </a:xfrm>
          <a:prstGeom prst="rect">
            <a:avLst/>
          </a:prstGeom>
          <a:noFill/>
        </p:spPr>
        <p:txBody>
          <a:bodyPr wrap="square" lIns="508" tIns="508" rIns="508" bIns="508" rtlCol="0" anchor="t">
            <a:normAutofit/>
          </a:bodyPr>
          <a:lstStyle/>
          <a:p>
            <a:pPr marL="0" indent="0" algn="l">
              <a:buNone/>
            </a:pPr>
            <a:r>
              <a:rPr lang="en-US" sz="12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演示环境波动</a:t>
            </a:r>
            <a:endParaRPr lang="en-US" sz="1250" dirty="0"/>
          </a:p>
        </p:txBody>
      </p:sp>
      <p:sp>
        <p:nvSpPr>
          <p:cNvPr id="18" name="Text 16"/>
          <p:cNvSpPr/>
          <p:nvPr/>
        </p:nvSpPr>
        <p:spPr>
          <a:xfrm>
            <a:off x="4782312" y="3474720"/>
            <a:ext cx="3282696" cy="182880"/>
          </a:xfrm>
          <a:prstGeom prst="rect">
            <a:avLst/>
          </a:prstGeom>
          <a:noFill/>
        </p:spPr>
        <p:txBody>
          <a:bodyPr wrap="square" lIns="381" tIns="381" rIns="381" bIns="381" rtlCol="0" anchor="t">
            <a:normAutofit/>
          </a:bodyPr>
          <a:lstStyle/>
          <a:p>
            <a:pPr marL="0" indent="0" algn="l">
              <a:buNone/>
            </a:pPr>
            <a:r>
              <a:rPr lang="en-US" sz="106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准备截图、mock 数据和代码包，保证答辩能讲清链路。</a:t>
            </a:r>
            <a:endParaRPr lang="en-US" sz="10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38912" y="292608"/>
            <a:ext cx="7040880" cy="457200"/>
          </a:xfrm>
          <a:prstGeom prst="rect">
            <a:avLst/>
          </a:prstGeom>
          <a:noFill/>
        </p:spPr>
        <p:txBody>
          <a:bodyPr wrap="square" lIns="508" tIns="508" rIns="508" bIns="508" rtlCol="0" anchor="t">
            <a:normAutofit/>
          </a:bodyPr>
          <a:lstStyle/>
          <a:p>
            <a:pPr marL="0" indent="0" algn="l">
              <a:buNone/>
            </a:pPr>
            <a:r>
              <a:rPr lang="en-US" sz="26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总结与成员分工</a:t>
            </a:r>
            <a:endParaRPr lang="en-US" sz="2600" dirty="0"/>
          </a:p>
        </p:txBody>
      </p:sp>
      <p:sp>
        <p:nvSpPr>
          <p:cNvPr id="3" name="Shape 1"/>
          <p:cNvSpPr/>
          <p:nvPr/>
        </p:nvSpPr>
        <p:spPr>
          <a:xfrm>
            <a:off x="7479792" y="347472"/>
            <a:ext cx="1078992" cy="310896"/>
          </a:xfrm>
          <a:prstGeom prst="roundRect">
            <a:avLst>
              <a:gd name="adj" fmla="val 47059"/>
            </a:avLst>
          </a:prstGeom>
          <a:solidFill>
            <a:srgbClr val="E8F6F1"/>
          </a:solidFill>
          <a:ln w="10160">
            <a:solidFill>
              <a:srgbClr val="E8F6F1"/>
            </a:solidFill>
            <a:prstDash val="solid"/>
          </a:ln>
        </p:spPr>
      </p:sp>
      <p:sp>
        <p:nvSpPr>
          <p:cNvPr id="4" name="Text 2"/>
          <p:cNvSpPr/>
          <p:nvPr/>
        </p:nvSpPr>
        <p:spPr>
          <a:xfrm>
            <a:off x="7479792" y="397764"/>
            <a:ext cx="1078992" cy="256032"/>
          </a:xfrm>
          <a:prstGeom prst="rect">
            <a:avLst/>
          </a:prstGeom>
          <a:noFill/>
        </p:spPr>
        <p:txBody>
          <a:bodyPr wrap="square" lIns="0" tIns="0" rIns="0" bIns="0" rtlCol="0" anchor="t">
            <a:normAutofit/>
          </a:bodyPr>
          <a:lstStyle/>
          <a:p>
            <a:pPr marL="0" indent="0" algn="ctr">
              <a:buNone/>
            </a:pPr>
            <a:r>
              <a:rPr lang="en-US" sz="85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总结</a:t>
            </a:r>
            <a:endParaRPr lang="en-US" sz="850" dirty="0"/>
          </a:p>
        </p:txBody>
      </p:sp>
      <p:sp>
        <p:nvSpPr>
          <p:cNvPr id="5" name="Shape 3"/>
          <p:cNvSpPr/>
          <p:nvPr/>
        </p:nvSpPr>
        <p:spPr>
          <a:xfrm>
            <a:off x="8503920" y="4663440"/>
            <a:ext cx="365760" cy="365760"/>
          </a:xfrm>
          <a:prstGeom prst="ellipse">
            <a:avLst/>
          </a:prstGeom>
          <a:solidFill>
            <a:srgbClr val="2A9D8F"/>
          </a:solidFill>
          <a:ln w="12700">
            <a:solidFill>
              <a:srgbClr val="2A9D8F"/>
            </a:solidFill>
            <a:prstDash val="solid"/>
          </a:ln>
        </p:spPr>
      </p:sp>
      <p:sp>
        <p:nvSpPr>
          <p:cNvPr id="6" name="Text 4"/>
          <p:cNvSpPr/>
          <p:nvPr/>
        </p:nvSpPr>
        <p:spPr>
          <a:xfrm>
            <a:off x="8503920" y="4736592"/>
            <a:ext cx="365760" cy="164592"/>
          </a:xfrm>
          <a:prstGeom prst="rect">
            <a:avLst/>
          </a:prstGeom>
          <a:noFill/>
        </p:spPr>
        <p:txBody>
          <a:bodyPr wrap="square" lIns="0" tIns="0" rIns="0" bIns="0" rtlCol="0" anchor="t">
            <a:normAutofit/>
          </a:bodyPr>
          <a:lstStyle/>
          <a:p>
            <a:pPr marL="0" indent="0" algn="ctr">
              <a:buNone/>
            </a:pPr>
            <a:r>
              <a:rPr lang="en-US" sz="1000" b="1" dirty="0">
                <a:solidFill>
                  <a:srgbClr val="FFFFFF"/>
                </a:solidFill>
                <a:latin typeface="Arial" panose="020B0604020202020204" pitchFamily="34" charset="0"/>
                <a:ea typeface="Arial" panose="020B0604020202020204" pitchFamily="34" charset="-122"/>
                <a:cs typeface="Arial" panose="020B0604020202020204" pitchFamily="34" charset="-120"/>
              </a:rPr>
              <a:t>11</a:t>
            </a:r>
            <a:endParaRPr lang="en-US" sz="1000" dirty="0"/>
          </a:p>
        </p:txBody>
      </p:sp>
      <p:sp>
        <p:nvSpPr>
          <p:cNvPr id="7" name="Shape 5"/>
          <p:cNvSpPr/>
          <p:nvPr/>
        </p:nvSpPr>
        <p:spPr>
          <a:xfrm>
            <a:off x="658368" y="960120"/>
            <a:ext cx="3703320" cy="2331720"/>
          </a:xfrm>
          <a:prstGeom prst="roundRect">
            <a:avLst>
              <a:gd name="adj" fmla="val 3922"/>
            </a:avLst>
          </a:prstGeom>
          <a:solidFill>
            <a:srgbClr val="FFFFFF"/>
          </a:solidFill>
          <a:ln w="10160">
            <a:solidFill>
              <a:srgbClr val="2A9D8F"/>
            </a:solidFill>
            <a:prstDash val="solid"/>
          </a:ln>
        </p:spPr>
      </p:sp>
      <p:sp>
        <p:nvSpPr>
          <p:cNvPr id="8" name="Text 6"/>
          <p:cNvSpPr/>
          <p:nvPr/>
        </p:nvSpPr>
        <p:spPr>
          <a:xfrm>
            <a:off x="822960" y="1097280"/>
            <a:ext cx="337413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完成内容</a:t>
            </a:r>
            <a:endParaRPr lang="en-US" sz="1400" dirty="0"/>
          </a:p>
        </p:txBody>
      </p:sp>
      <p:sp>
        <p:nvSpPr>
          <p:cNvPr id="9" name="Text 7"/>
          <p:cNvSpPr/>
          <p:nvPr/>
        </p:nvSpPr>
        <p:spPr>
          <a:xfrm>
            <a:off x="822960" y="1435608"/>
            <a:ext cx="3374136" cy="1764792"/>
          </a:xfrm>
          <a:prstGeom prst="rect">
            <a:avLst/>
          </a:prstGeom>
          <a:noFill/>
        </p:spPr>
        <p:txBody>
          <a:bodyPr wrap="square" lIns="381" tIns="381" rIns="381" bIns="381" rtlCol="0" anchor="t">
            <a:normAutofit/>
          </a:bodyPr>
          <a:lstStyle/>
          <a:p>
            <a:pPr marL="0" indent="0" algn="l">
              <a:buNone/>
            </a:pPr>
            <a:r>
              <a:rPr lang="en-US" sz="122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手机端打卡、自报告采集、FastAPI 后端、训练数据导出、随机森林三分类、预测接口和分析看板。</a:t>
            </a:r>
            <a:endParaRPr lang="en-US" sz="1220" dirty="0"/>
          </a:p>
        </p:txBody>
      </p:sp>
      <p:sp>
        <p:nvSpPr>
          <p:cNvPr id="10" name="Shape 8"/>
          <p:cNvSpPr/>
          <p:nvPr/>
        </p:nvSpPr>
        <p:spPr>
          <a:xfrm>
            <a:off x="4709160" y="960120"/>
            <a:ext cx="3703320" cy="2331720"/>
          </a:xfrm>
          <a:prstGeom prst="roundRect">
            <a:avLst>
              <a:gd name="adj" fmla="val 3922"/>
            </a:avLst>
          </a:prstGeom>
          <a:solidFill>
            <a:srgbClr val="FFFFFF"/>
          </a:solidFill>
          <a:ln w="10160">
            <a:solidFill>
              <a:srgbClr val="E76F51"/>
            </a:solidFill>
            <a:prstDash val="solid"/>
          </a:ln>
        </p:spPr>
      </p:sp>
      <p:sp>
        <p:nvSpPr>
          <p:cNvPr id="11" name="Text 9"/>
          <p:cNvSpPr/>
          <p:nvPr/>
        </p:nvSpPr>
        <p:spPr>
          <a:xfrm>
            <a:off x="4873752" y="1097280"/>
            <a:ext cx="3374136" cy="256032"/>
          </a:xfrm>
          <a:prstGeom prst="rect">
            <a:avLst/>
          </a:prstGeom>
          <a:noFill/>
        </p:spPr>
        <p:txBody>
          <a:bodyPr wrap="square" lIns="508" tIns="508" rIns="508" bIns="508" rtlCol="0" anchor="t">
            <a:normAutofit/>
          </a:bodyPr>
          <a:lstStyle/>
          <a:p>
            <a:pPr marL="0" indent="0" algn="l">
              <a:buNone/>
            </a:pPr>
            <a:r>
              <a:rPr lang="en-US" sz="1400" b="1" dirty="0">
                <a:solidFill>
                  <a:srgbClr val="264653"/>
                </a:solidFill>
                <a:latin typeface="微软雅黑" panose="020B0503020204020204" pitchFamily="34" charset="-122"/>
                <a:ea typeface="微软雅黑" panose="020B0503020204020204" pitchFamily="34" charset="-122"/>
                <a:cs typeface="微软雅黑" panose="020B0503020204020204" pitchFamily="34" charset="-120"/>
              </a:rPr>
              <a:t>成员分工</a:t>
            </a:r>
            <a:endParaRPr lang="en-US" sz="1400" dirty="0"/>
          </a:p>
        </p:txBody>
      </p:sp>
      <p:sp>
        <p:nvSpPr>
          <p:cNvPr id="12" name="Text 10"/>
          <p:cNvSpPr/>
          <p:nvPr/>
        </p:nvSpPr>
        <p:spPr>
          <a:xfrm>
            <a:off x="4873752" y="1435608"/>
            <a:ext cx="3374136" cy="1764792"/>
          </a:xfrm>
          <a:prstGeom prst="rect">
            <a:avLst/>
          </a:prstGeom>
          <a:noFill/>
        </p:spPr>
        <p:txBody>
          <a:bodyPr wrap="square" lIns="381" tIns="381" rIns="381" bIns="381" rtlCol="0" anchor="t">
            <a:normAutofit/>
          </a:bodyPr>
          <a:lstStyle/>
          <a:p>
            <a:pPr marL="0" indent="0" algn="l">
              <a:buNone/>
            </a:pPr>
            <a:r>
              <a:rPr lang="en-US" sz="9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陈嘉宏（202400502094）：系统需求、后端接口、数据字典、模型训练脚本、论文结果整理。</a:t>
            </a:r>
            <a:endParaRPr lang="en-US" sz="970" dirty="0"/>
          </a:p>
          <a:p>
            <a:pPr marL="0" indent="0" algn="l">
              <a:buNone/>
            </a:pPr>
            <a:r>
              <a:rPr lang="en-US" sz="970" dirty="0">
                <a:solidFill>
                  <a:srgbClr val="172033"/>
                </a:solidFill>
                <a:latin typeface="微软雅黑" panose="020B0503020204020204" pitchFamily="34" charset="-122"/>
                <a:ea typeface="微软雅黑" panose="020B0503020204020204" pitchFamily="34" charset="-122"/>
                <a:cs typeface="微软雅黑" panose="020B0503020204020204" pitchFamily="34" charset="-120"/>
              </a:rPr>
              <a:t>蔡天成（202401100012）：前端页面、手机运动采集、看板展示、PPT 制作、演示材料整理。</a:t>
            </a:r>
            <a:endParaRPr lang="en-US" sz="970" dirty="0"/>
          </a:p>
        </p:txBody>
      </p:sp>
      <p:sp>
        <p:nvSpPr>
          <p:cNvPr id="13" name="Shape 11"/>
          <p:cNvSpPr/>
          <p:nvPr/>
        </p:nvSpPr>
        <p:spPr>
          <a:xfrm>
            <a:off x="658368" y="3822192"/>
            <a:ext cx="7754112" cy="621792"/>
          </a:xfrm>
          <a:prstGeom prst="rect">
            <a:avLst/>
          </a:prstGeom>
          <a:solidFill>
            <a:srgbClr val="122A36"/>
          </a:solidFill>
          <a:ln w="6350">
            <a:solidFill>
              <a:srgbClr val="122A36"/>
            </a:solidFill>
            <a:prstDash val="solid"/>
          </a:ln>
        </p:spPr>
      </p:sp>
      <p:sp>
        <p:nvSpPr>
          <p:cNvPr id="14" name="Text 12"/>
          <p:cNvSpPr/>
          <p:nvPr/>
        </p:nvSpPr>
        <p:spPr>
          <a:xfrm>
            <a:off x="658368" y="3986784"/>
            <a:ext cx="7754112" cy="256032"/>
          </a:xfrm>
          <a:prstGeom prst="rect">
            <a:avLst/>
          </a:prstGeom>
          <a:noFill/>
        </p:spPr>
        <p:txBody>
          <a:bodyPr wrap="square" lIns="0" tIns="0" rIns="0" bIns="0" rtlCol="0" anchor="t">
            <a:normAutofit/>
          </a:bodyPr>
          <a:lstStyle/>
          <a:p>
            <a:pPr marL="0" indent="0" algn="ctr">
              <a:buNone/>
            </a:pPr>
            <a:r>
              <a:rPr lang="en-US" sz="250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谢谢老师，请批评指正。</a:t>
            </a:r>
            <a:endParaRPr lang="en-US" sz="2500" dirty="0"/>
          </a:p>
        </p:txBody>
      </p:sp>
    </p:spTree>
  </p:cSld>
  <p:clrMapOvr>
    <a:masterClrMapping/>
  </p:clrMapOvr>
</p:sld>
</file>

<file path=ppt/tags/tag1.xml><?xml version="1.0" encoding="utf-8"?>
<p:tagLst xmlns:p="http://schemas.openxmlformats.org/presentationml/2006/main">
  <p:tag name="KSO_WM_DIAGRAM_VIRTUALLY_FRAME" val="{&quot;height&quot;:176.4,&quot;left&quot;:41.76,&quot;top&quot;:77.76,&quot;width&quot;:599.76}"/>
</p:tagLst>
</file>

<file path=ppt/tags/tag2.xml><?xml version="1.0" encoding="utf-8"?>
<p:tagLst xmlns:p="http://schemas.openxmlformats.org/presentationml/2006/main">
  <p:tag name="KSO_WM_DIAGRAM_VIRTUALLY_FRAME" val="{&quot;height&quot;:176.4,&quot;left&quot;:41.76,&quot;top&quot;:77.76,&quot;width&quot;:599.76}"/>
</p:tagLst>
</file>

<file path=ppt/tags/tag3.xml><?xml version="1.0" encoding="utf-8"?>
<p:tagLst xmlns:p="http://schemas.openxmlformats.org/presentationml/2006/main">
  <p:tag name="KSO_WM_DIAGRAM_VIRTUALLY_FRAME" val="{&quot;height&quot;:176.4,&quot;left&quot;:41.76,&quot;top&quot;:77.76,&quot;width&quot;:599.76}"/>
</p:tagLst>
</file>

<file path=ppt/tags/tag4.xml><?xml version="1.0" encoding="utf-8"?>
<p:tagLst xmlns:p="http://schemas.openxmlformats.org/presentationml/2006/main">
  <p:tag name="KSO_WM_DIAGRAM_VIRTUALLY_FRAME" val="{&quot;height&quot;:176.4,&quot;left&quot;:41.76,&quot;top&quot;:77.76,&quot;width&quot;:599.76}"/>
</p:tagLst>
</file>

<file path=ppt/tags/tag5.xml><?xml version="1.0" encoding="utf-8"?>
<p:tagLst xmlns:p="http://schemas.openxmlformats.org/presentationml/2006/main">
  <p:tag name="KSO_WM_DIAGRAM_VIRTUALLY_FRAME" val="{&quot;height&quot;:176.4,&quot;left&quot;:41.76,&quot;top&quot;:77.76,&quot;width&quot;:599.76}"/>
</p:tagLst>
</file>

<file path=ppt/tags/tag6.xml><?xml version="1.0" encoding="utf-8"?>
<p:tagLst xmlns:p="http://schemas.openxmlformats.org/presentationml/2006/main">
  <p:tag name="KSO_WM_DIAGRAM_VIRTUALLY_FRAME" val="{&quot;height&quot;:176.4,&quot;left&quot;:41.76,&quot;top&quot;:77.76,&quot;width&quot;:599.76}"/>
</p:tagLst>
</file>

<file path=ppt/tags/tag7.xml><?xml version="1.0" encoding="utf-8"?>
<p:tagLst xmlns:p="http://schemas.openxmlformats.org/presentationml/2006/main">
  <p:tag name="KSO_WM_DIAGRAM_VIRTUALLY_FRAME" val="{&quot;height&quot;:176.4,&quot;left&quot;:41.76,&quot;top&quot;:77.76,&quot;width&quot;:599.76}"/>
</p:tagLst>
</file>

<file path=ppt/tags/tag8.xml><?xml version="1.0" encoding="utf-8"?>
<p:tagLst xmlns:p="http://schemas.openxmlformats.org/presentationml/2006/main">
  <p:tag name="KSO_WM_DIAGRAM_VIRTUALLY_FRAME" val="{&quot;height&quot;:176.4,&quot;left&quot;:41.76,&quot;top&quot;:77.76,&quot;width&quot;:599.76}"/>
</p:tagLst>
</file>

<file path=ppt/tags/tag9.xml><?xml version="1.0" encoding="utf-8"?>
<p:tagLst xmlns:p="http://schemas.openxmlformats.org/presentationml/2006/main">
  <p:tag name="KSO_WM_DIAGRAM_VIRTUALLY_FRAME" val="{&quot;height&quot;:176.4,&quot;left&quot;:41.76,&quot;top&quot;:77.76,&quot;width&quot;:599.76}"/>
</p:tagLst>
</file>

<file path=ppt/tags/tag10.xml><?xml version="1.0" encoding="utf-8"?>
<p:tagLst xmlns:p="http://schemas.openxmlformats.org/presentationml/2006/main">
  <p:tag name="commondata" val="eyJoZGlkIjoiZDExODc1MTE5ZWEzM2MxNDJjYTc2MmZiNTUxZjc4NTY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2220</Words>
  <Application>WPS 演示</Application>
  <PresentationFormat>On-screen Show (16:9)</PresentationFormat>
  <Paragraphs>378</Paragraphs>
  <Slides>11</Slides>
  <Notes>11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宋体</vt:lpstr>
      <vt:lpstr>Wingdings</vt:lpstr>
      <vt:lpstr>微软雅黑</vt:lpstr>
      <vt:lpstr>微软雅黑</vt:lpstr>
      <vt:lpstr>Arial</vt:lpstr>
      <vt:lpstr>Arial</vt:lpstr>
      <vt:lpstr>Arial Unicode MS</vt:lpstr>
      <vt:lpstr>等线</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24级物联网1班</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基于手机轻量感知与自报告数据的大学生学习效率预测系统设计与实现</dc:title>
  <dc:creator>陈嘉宏, 蔡天成</dc:creator>
  <dc:subject>Python 期末课程设计答辩</dc:subject>
  <cp:lastModifiedBy>*</cp:lastModifiedBy>
  <cp:revision>5</cp:revision>
  <dcterms:created xsi:type="dcterms:W3CDTF">2026-06-24T16:39:00Z</dcterms:created>
  <dcterms:modified xsi:type="dcterms:W3CDTF">2026-06-24T16:59:53Z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C1F24FD18A12451B95EC5A1FD6E20D72_12</vt:lpwstr>
  </property>
  <property fmtid="{D5CDD505-2E9C-101B-9397-08002B2CF9AE}" pid="3" name="KSOProductBuildVer">
    <vt:lpwstr>2052-12.1.0.17827</vt:lpwstr>
  </property>
</Properties>
</file>